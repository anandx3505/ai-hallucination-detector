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6858000" cx="9144000"/>
  <p:notesSz cx="9942500" cy="6761150"/>
  <p:embeddedFontLst>
    <p:embeddedFont>
      <p:font typeface="Helvetica Neue"/>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521">
          <p15:clr>
            <a:srgbClr val="A4A3A4"/>
          </p15:clr>
        </p15:guide>
      </p15:sldGuideLst>
    </p:ext>
    <p:ext uri="{2D200454-40CA-4A62-9FC3-DE9A4176ACB9}">
      <p15:notesGuideLst>
        <p15:guide id="1" orient="horz" pos="2130">
          <p15:clr>
            <a:srgbClr val="A4A3A4"/>
          </p15:clr>
        </p15:guide>
        <p15:guide id="2" pos="3133">
          <p15:clr>
            <a:srgbClr val="A4A3A4"/>
          </p15:clr>
        </p15:guide>
      </p15:notesGuideLst>
    </p:ext>
    <p:ext uri="GoogleSlidesCustomDataVersion2">
      <go:slidesCustomData xmlns:go="http://customooxmlschemas.google.com/" r:id="rId47" roundtripDataSignature="AMtx7mhCHYKF2vYc0VA42U1uCMPRTUUC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7F1409-8902-4A2D-BE7C-06FC4102EE46}">
  <a:tblStyle styleId="{377F1409-8902-4A2D-BE7C-06FC4102EE46}"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Helvetica"/>
          <a:ea typeface="Helvetica"/>
          <a:cs typeface="Helvetica"/>
        </a:font>
        <a:schemeClr val="lt1"/>
      </a:tcTxStyle>
      <a:tcStyle>
        <a:fill>
          <a:solidFill>
            <a:schemeClr val="accent4"/>
          </a:solidFill>
        </a:fill>
      </a:tcStyle>
    </a:lastCol>
    <a:firstCol>
      <a:tcTxStyle b="on" i="off">
        <a:font>
          <a:latin typeface="Helvetica"/>
          <a:ea typeface="Helvetica"/>
          <a:cs typeface="Helvetica"/>
        </a:font>
        <a:schemeClr val="lt1"/>
      </a:tcTxStyle>
      <a:tcStyle>
        <a:fill>
          <a:solidFill>
            <a:schemeClr val="accent4"/>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521"/>
      </p:guideLst>
    </p:cSldViewPr>
  </p:slideViewPr>
  <p:notesViewPr>
    <p:cSldViewPr snapToGrid="0">
      <p:cViewPr varScale="1">
        <p:scale>
          <a:sx n="100" d="100"/>
          <a:sy n="100" d="100"/>
        </p:scale>
        <p:origin x="0" y="0"/>
      </p:cViewPr>
      <p:guideLst>
        <p:guide pos="2130" orient="horz"/>
        <p:guide pos="3133"/>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font" Target="fonts/HelveticaNeue-bold.fntdata"/><Relationship Id="rId21" Type="http://schemas.openxmlformats.org/officeDocument/2006/relationships/slide" Target="slides/slide14.xml"/><Relationship Id="rId43" Type="http://schemas.openxmlformats.org/officeDocument/2006/relationships/font" Target="fonts/HelveticaNeue-regular.fntdata"/><Relationship Id="rId24" Type="http://schemas.openxmlformats.org/officeDocument/2006/relationships/slide" Target="slides/slide17.xml"/><Relationship Id="rId46" Type="http://schemas.openxmlformats.org/officeDocument/2006/relationships/font" Target="fonts/HelveticaNeue-boldItalic.fntdata"/><Relationship Id="rId23" Type="http://schemas.openxmlformats.org/officeDocument/2006/relationships/slide" Target="slides/slide16.xml"/><Relationship Id="rId45"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32288" cy="333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5635625" y="0"/>
            <a:ext cx="4333875" cy="33337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rgbClr val="E36C0A"/>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438900"/>
            <a:ext cx="4332288" cy="3333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1: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adce7c526b_1_220: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 name="Google Shape;51;g3adce7c526b_1_220:notes"/>
          <p:cNvSpPr txBox="1"/>
          <p:nvPr>
            <p:ph idx="1" type="body"/>
          </p:nvPr>
        </p:nvSpPr>
        <p:spPr>
          <a:xfrm>
            <a:off x="1300163" y="3221038"/>
            <a:ext cx="7369200" cy="3051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g3adce7c526b_1_220:notes"/>
          <p:cNvSpPr txBox="1"/>
          <p:nvPr>
            <p:ph idx="12" type="sldNum"/>
          </p:nvPr>
        </p:nvSpPr>
        <p:spPr>
          <a:xfrm>
            <a:off x="5635625" y="6438900"/>
            <a:ext cx="4333800" cy="3333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9" name="Google Shape;59;p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5" name="Google Shape;65;p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1" name="Google Shape;71;p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7" name="Google Shape;77;p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84" name="Google Shape;84;p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91" name="Google Shape;91;p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98" name="Google Shape;98;p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05" name="Google Shape;105;p1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4516d7753_5_16: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12" name="Google Shape;112;g384516d7753_5_16: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461899531_0_2: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19" name="Google Shape;119;g38461899531_0_2: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dce7c526b_1_15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26" name="Google Shape;126;g3adce7c526b_1_15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cf3ca21e3_0_64: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32" name="Google Shape;132;g38cf3ca21e3_0_64: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e2a73ad87_0_1: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e2a73ad87_0_1: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1" name="Google Shape;141;g3ae2a73ad87_0_1:notes"/>
          <p:cNvSpPr txBox="1"/>
          <p:nvPr>
            <p:ph idx="12" type="sldNum"/>
          </p:nvPr>
        </p:nvSpPr>
        <p:spPr>
          <a:xfrm>
            <a:off x="5635625" y="6438900"/>
            <a:ext cx="4333800" cy="3333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8" name="Google Shape;148;p1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54" name="Google Shape;154;p1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0" name="Google Shape;160;p1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dce7c526b_1_6: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6" name="Google Shape;166;g3adce7c526b_1_6: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dce7c526b_1_37: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73" name="Google Shape;173;g3adce7c526b_1_37: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dce7c526b_1_85: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83" name="Google Shape;183;g3adce7c526b_1_85: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dce7c526b_1_66: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93" name="Google Shape;193;g3adce7c526b_1_66: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dce7c526b_1_110: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03" name="Google Shape;203;g3adce7c526b_1_110: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dce7c526b_1_129: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12" name="Google Shape;212;g3adce7c526b_1_129: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dce7c526b_1_148: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19" name="Google Shape;219;g3adce7c526b_1_148: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26" name="Google Shape;226;p1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2: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32" name="Google Shape;232;p2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39" name="Google Shape;239;p2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46" name="Google Shape;246;p2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dce7c526b_1_247: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54" name="Google Shape;254;g3adce7c526b_1_247: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60" name="Google Shape;260;p2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67" name="Google Shape;267;p2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cf3ca21e3_0_84: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73" name="Google Shape;273;g38cf3ca21e3_0_84: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79" name="Google Shape;279;p2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285" name="Google Shape;285;p2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30"/>
          <p:cNvSpPr txBox="1"/>
          <p:nvPr>
            <p:ph type="ctrTitle"/>
          </p:nvPr>
        </p:nvSpPr>
        <p:spPr>
          <a:xfrm>
            <a:off x="755373" y="685800"/>
            <a:ext cx="7901609" cy="1615966"/>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3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1"/>
          <p:cNvSpPr txBox="1"/>
          <p:nvPr>
            <p:ph idx="1" type="body"/>
          </p:nvPr>
        </p:nvSpPr>
        <p:spPr>
          <a:xfrm>
            <a:off x="86197" y="782321"/>
            <a:ext cx="8953500" cy="5976288"/>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22" name="Google Shape;22;p31"/>
          <p:cNvCxnSpPr/>
          <p:nvPr/>
        </p:nvCxnSpPr>
        <p:spPr>
          <a:xfrm>
            <a:off x="579120" y="6658235"/>
            <a:ext cx="793496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1" name="Shape 31"/>
        <p:cNvGrpSpPr/>
        <p:nvPr/>
      </p:nvGrpSpPr>
      <p:grpSpPr>
        <a:xfrm>
          <a:off x="0" y="0"/>
          <a:ext cx="0" cy="0"/>
          <a:chOff x="0" y="0"/>
          <a:chExt cx="0" cy="0"/>
        </a:xfrm>
      </p:grpSpPr>
      <p:sp>
        <p:nvSpPr>
          <p:cNvPr id="32" name="Google Shape;32;g3adce7c526b_1_235"/>
          <p:cNvSpPr txBox="1"/>
          <p:nvPr>
            <p:ph type="ctrTitle"/>
          </p:nvPr>
        </p:nvSpPr>
        <p:spPr>
          <a:xfrm>
            <a:off x="755373" y="685800"/>
            <a:ext cx="7901700" cy="1616100"/>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g3adce7c526b_1_237"/>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g3adce7c526b_1_237"/>
          <p:cNvSpPr txBox="1"/>
          <p:nvPr>
            <p:ph idx="1" type="body"/>
          </p:nvPr>
        </p:nvSpPr>
        <p:spPr>
          <a:xfrm>
            <a:off x="86197" y="782321"/>
            <a:ext cx="8953500" cy="5976300"/>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36" name="Google Shape;36;g3adce7c526b_1_237"/>
          <p:cNvCxnSpPr/>
          <p:nvPr/>
        </p:nvCxnSpPr>
        <p:spPr>
          <a:xfrm>
            <a:off x="579120" y="6658235"/>
            <a:ext cx="793500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30480" y="27846"/>
            <a:ext cx="8328751"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1" name="Google Shape;11;p29"/>
          <p:cNvSpPr txBox="1"/>
          <p:nvPr>
            <p:ph idx="1" type="body"/>
          </p:nvPr>
        </p:nvSpPr>
        <p:spPr>
          <a:xfrm>
            <a:off x="86197" y="782321"/>
            <a:ext cx="8953500" cy="5831590"/>
          </a:xfrm>
          <a:prstGeom prst="rect">
            <a:avLst/>
          </a:prstGeom>
          <a:noFill/>
          <a:ln>
            <a:noFill/>
          </a:ln>
        </p:spPr>
        <p:txBody>
          <a:bodyPr anchorCtr="0" anchor="t" bIns="45700" lIns="91425" spcFirstLastPara="1" rIns="91425" wrap="square" tIns="45700">
            <a:noAutofit/>
          </a:bodyPr>
          <a:lstStyle>
            <a:lvl1pPr indent="-371475" lvl="0" marL="457200" marR="0" rtl="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rtl="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rtl="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rtl="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rtl="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29"/>
          <p:cNvSpPr txBox="1"/>
          <p:nvPr/>
        </p:nvSpPr>
        <p:spPr>
          <a:xfrm>
            <a:off x="4259263" y="6126163"/>
            <a:ext cx="1928812" cy="2460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chemeClr val="lt1"/>
                </a:solidFill>
                <a:latin typeface="Helvetica Neue"/>
                <a:ea typeface="Helvetica Neue"/>
                <a:cs typeface="Helvetica Neue"/>
                <a:sym typeface="Helvetica Neue"/>
              </a:rPr>
              <a:t>Monday, September 8,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13" name="Google Shape;13;p29"/>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14" name="Google Shape;14;p29"/>
          <p:cNvSpPr txBox="1"/>
          <p:nvPr/>
        </p:nvSpPr>
        <p:spPr>
          <a:xfrm>
            <a:off x="123673" y="6687228"/>
            <a:ext cx="8694256" cy="195391"/>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US" sz="950" u="none" cap="none" strike="noStrike">
                <a:solidFill>
                  <a:srgbClr val="002060"/>
                </a:solidFill>
                <a:latin typeface="Palatino"/>
                <a:ea typeface="Palatino"/>
                <a:cs typeface="Palatino"/>
                <a:sym typeface="Palatino"/>
              </a:rPr>
              <a:t>       </a:t>
            </a:r>
            <a:r>
              <a:rPr b="0" i="0" lang="en-US" sz="900" u="none" cap="none" strike="noStrike">
                <a:solidFill>
                  <a:srgbClr val="002060"/>
                </a:solidFill>
                <a:latin typeface="Palatino"/>
                <a:ea typeface="Palatino"/>
                <a:cs typeface="Palatino"/>
                <a:sym typeface="Palatino"/>
              </a:rPr>
              <a:t>Major Project – I (18B19CI791) Mid-Term Evaluation | Department of CSE &amp; IT | AY 2025-26. </a:t>
            </a:r>
            <a:endParaRPr/>
          </a:p>
        </p:txBody>
      </p:sp>
      <p:sp>
        <p:nvSpPr>
          <p:cNvPr id="15" name="Google Shape;15;p29"/>
          <p:cNvSpPr txBox="1"/>
          <p:nvPr/>
        </p:nvSpPr>
        <p:spPr>
          <a:xfrm>
            <a:off x="8798560" y="6613912"/>
            <a:ext cx="259243" cy="24606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16" name="Google Shape;16;p29"/>
          <p:cNvSpPr txBox="1"/>
          <p:nvPr/>
        </p:nvSpPr>
        <p:spPr>
          <a:xfrm>
            <a:off x="8798560" y="6644391"/>
            <a:ext cx="3657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900" u="none" cap="none" strike="noStrike">
                <a:solidFill>
                  <a:srgbClr val="005493"/>
                </a:solidFill>
                <a:latin typeface="Palatino"/>
                <a:ea typeface="Palatino"/>
                <a:cs typeface="Palatino"/>
                <a:sym typeface="Palatino"/>
              </a:rPr>
              <a:t>‹#›</a:t>
            </a:fld>
            <a:r>
              <a:rPr b="0" i="0" lang="en-US"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g3adce7c526b_1_227"/>
          <p:cNvSpPr txBox="1"/>
          <p:nvPr>
            <p:ph type="title"/>
          </p:nvPr>
        </p:nvSpPr>
        <p:spPr>
          <a:xfrm>
            <a:off x="30480" y="27846"/>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25" name="Google Shape;25;g3adce7c526b_1_227"/>
          <p:cNvSpPr txBox="1"/>
          <p:nvPr>
            <p:ph idx="1" type="body"/>
          </p:nvPr>
        </p:nvSpPr>
        <p:spPr>
          <a:xfrm>
            <a:off x="86197" y="782321"/>
            <a:ext cx="8953500" cy="5831700"/>
          </a:xfrm>
          <a:prstGeom prst="rect">
            <a:avLst/>
          </a:prstGeom>
          <a:noFill/>
          <a:ln>
            <a:noFill/>
          </a:ln>
        </p:spPr>
        <p:txBody>
          <a:bodyPr anchorCtr="0" anchor="t" bIns="45700" lIns="91425" spcFirstLastPara="1" rIns="91425" wrap="square" tIns="45700">
            <a:noAutofit/>
          </a:bodyPr>
          <a:lstStyle>
            <a:lvl1pPr indent="-371475" lvl="0" marL="457200" marR="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26" name="Google Shape;26;g3adce7c526b_1_227"/>
          <p:cNvSpPr txBox="1"/>
          <p:nvPr/>
        </p:nvSpPr>
        <p:spPr>
          <a:xfrm>
            <a:off x="4259263" y="6126163"/>
            <a:ext cx="19287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chemeClr val="lt1"/>
                </a:solidFill>
                <a:latin typeface="Helvetica Neue"/>
                <a:ea typeface="Helvetica Neue"/>
                <a:cs typeface="Helvetica Neue"/>
                <a:sym typeface="Helvetica Neue"/>
              </a:rPr>
              <a:t>Wednesday, November 12,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27" name="Google Shape;27;g3adce7c526b_1_227"/>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28" name="Google Shape;28;g3adce7c526b_1_227"/>
          <p:cNvSpPr txBox="1"/>
          <p:nvPr/>
        </p:nvSpPr>
        <p:spPr>
          <a:xfrm>
            <a:off x="123673" y="6687228"/>
            <a:ext cx="8694300" cy="1953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US" sz="950" u="none" cap="none" strike="noStrike">
                <a:solidFill>
                  <a:srgbClr val="002060"/>
                </a:solidFill>
                <a:latin typeface="Palatino"/>
                <a:ea typeface="Palatino"/>
                <a:cs typeface="Palatino"/>
                <a:sym typeface="Palatino"/>
              </a:rPr>
              <a:t>       </a:t>
            </a:r>
            <a:r>
              <a:rPr b="0" i="0" lang="en-US" sz="900" u="none" cap="none" strike="noStrike">
                <a:solidFill>
                  <a:srgbClr val="002060"/>
                </a:solidFill>
                <a:latin typeface="Palatino"/>
                <a:ea typeface="Palatino"/>
                <a:cs typeface="Palatino"/>
                <a:sym typeface="Palatino"/>
              </a:rPr>
              <a:t>Major Project – I (18B19CI791) End-Term Evaluation (ETE) | Department of CSE &amp; IT | AY 2025-26. </a:t>
            </a:r>
            <a:endParaRPr/>
          </a:p>
        </p:txBody>
      </p:sp>
      <p:sp>
        <p:nvSpPr>
          <p:cNvPr id="29" name="Google Shape;29;g3adce7c526b_1_227"/>
          <p:cNvSpPr txBox="1"/>
          <p:nvPr/>
        </p:nvSpPr>
        <p:spPr>
          <a:xfrm>
            <a:off x="8798560" y="6613912"/>
            <a:ext cx="259200" cy="2460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30" name="Google Shape;30;g3adce7c526b_1_227"/>
          <p:cNvSpPr txBox="1"/>
          <p:nvPr/>
        </p:nvSpPr>
        <p:spPr>
          <a:xfrm>
            <a:off x="8798560" y="6644391"/>
            <a:ext cx="3657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US" sz="900" u="none" cap="none" strike="noStrike">
                <a:solidFill>
                  <a:srgbClr val="005493"/>
                </a:solidFill>
                <a:latin typeface="Palatino"/>
                <a:ea typeface="Palatino"/>
                <a:cs typeface="Palatino"/>
                <a:sym typeface="Palatino"/>
              </a:rPr>
              <a:t>‹#›</a:t>
            </a:fld>
            <a:r>
              <a:rPr b="0" i="0" lang="en-US"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52" r:id="rId2"/>
    <p:sldLayoutId id="2147483653"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arxiv.org/abs/2306.13394" TargetMode="External"/><Relationship Id="rId4" Type="http://schemas.openxmlformats.org/officeDocument/2006/relationships/hyperlink" Target="https://arxiv.org/abs/2306.13394" TargetMode="External"/><Relationship Id="rId5" Type="http://schemas.openxmlformats.org/officeDocument/2006/relationships/hyperlink" Target="https://arxiv.org/abs/2407.07071" TargetMode="External"/><Relationship Id="rId6" Type="http://schemas.openxmlformats.org/officeDocument/2006/relationships/hyperlink" Target="https://arxiv.org/abs/2405.09589" TargetMode="External"/><Relationship Id="rId7" Type="http://schemas.openxmlformats.org/officeDocument/2006/relationships/hyperlink" Target="https://arxiv.org/pdf/2401.11817"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arxiv.org/pdf/2401.06796?utm_source=chatgpt.com" TargetMode="External"/><Relationship Id="rId4" Type="http://schemas.openxmlformats.org/officeDocument/2006/relationships/hyperlink" Target="https://arxiv.org/pdf/2401.06796?utm_source=chatgpt.com" TargetMode="External"/><Relationship Id="rId10" Type="http://schemas.openxmlformats.org/officeDocument/2006/relationships/hyperlink" Target="http://karpathy.github.io/2015/05/21/rnn-effectiveness/" TargetMode="External"/><Relationship Id="rId9" Type="http://schemas.openxmlformats.org/officeDocument/2006/relationships/hyperlink" Target="http://karpathy.github.io/2015/05/21/rnn-effectiveness/" TargetMode="External"/><Relationship Id="rId5" Type="http://schemas.openxmlformats.org/officeDocument/2006/relationships/hyperlink" Target="https://arxiv.org/abs/2303.08774" TargetMode="External"/><Relationship Id="rId6" Type="http://schemas.openxmlformats.org/officeDocument/2006/relationships/hyperlink" Target="https://arxiv.org/abs/2303.08774" TargetMode="External"/><Relationship Id="rId7" Type="http://schemas.openxmlformats.org/officeDocument/2006/relationships/hyperlink" Target="https://www.deepmind.com/research/highlighted-research/alphafold" TargetMode="External"/><Relationship Id="rId8" Type="http://schemas.openxmlformats.org/officeDocument/2006/relationships/hyperlink" Target="https://www.deepmind.com/research/highlighted-research/alphafol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
          <p:cNvSpPr txBox="1"/>
          <p:nvPr>
            <p:ph type="ctrTitle"/>
          </p:nvPr>
        </p:nvSpPr>
        <p:spPr>
          <a:xfrm>
            <a:off x="0" y="3592225"/>
            <a:ext cx="9144000" cy="678900"/>
          </a:xfrm>
          <a:prstGeom prst="rect">
            <a:avLst/>
          </a:prstGeom>
          <a:solidFill>
            <a:srgbClr val="0037A4"/>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50000"/>
              </a:lnSpc>
              <a:spcBef>
                <a:spcPts val="0"/>
              </a:spcBef>
              <a:spcAft>
                <a:spcPts val="0"/>
              </a:spcAft>
              <a:buNone/>
            </a:pPr>
            <a:r>
              <a:rPr lang="en-US" sz="2800"/>
              <a:t>AI Hallucination Detector</a:t>
            </a:r>
            <a:endParaRPr b="1" sz="1400"/>
          </a:p>
        </p:txBody>
      </p:sp>
      <p:sp>
        <p:nvSpPr>
          <p:cNvPr id="42" name="Google Shape;42;p1"/>
          <p:cNvSpPr/>
          <p:nvPr/>
        </p:nvSpPr>
        <p:spPr>
          <a:xfrm>
            <a:off x="1457427" y="2108091"/>
            <a:ext cx="6229141" cy="106952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2400" u="none" cap="none" strike="noStrike">
                <a:solidFill>
                  <a:schemeClr val="dk1"/>
                </a:solidFill>
                <a:latin typeface="Palatino"/>
                <a:ea typeface="Palatino"/>
                <a:cs typeface="Palatino"/>
                <a:sym typeface="Palatino"/>
              </a:rPr>
              <a:t>Major Project - I (18B19CI791) | AY 2025-26</a:t>
            </a:r>
            <a:endParaRPr/>
          </a:p>
          <a:p>
            <a:pPr indent="0" lvl="0" marL="0" marR="0" rtl="0" algn="ctr">
              <a:lnSpc>
                <a:spcPct val="150000"/>
              </a:lnSpc>
              <a:spcBef>
                <a:spcPts val="0"/>
              </a:spcBef>
              <a:spcAft>
                <a:spcPts val="0"/>
              </a:spcAft>
              <a:buNone/>
            </a:pPr>
            <a:r>
              <a:rPr b="1" lang="en-US" sz="2000">
                <a:solidFill>
                  <a:schemeClr val="dk1"/>
                </a:solidFill>
                <a:latin typeface="Palatino"/>
                <a:ea typeface="Palatino"/>
                <a:cs typeface="Palatino"/>
                <a:sym typeface="Palatino"/>
              </a:rPr>
              <a:t>E</a:t>
            </a:r>
            <a:r>
              <a:rPr b="1" lang="en-US" sz="2000">
                <a:solidFill>
                  <a:schemeClr val="dk1"/>
                </a:solidFill>
                <a:latin typeface="Palatino"/>
                <a:ea typeface="Palatino"/>
                <a:cs typeface="Palatino"/>
                <a:sym typeface="Palatino"/>
              </a:rPr>
              <a:t>n</a:t>
            </a:r>
            <a:r>
              <a:rPr b="1" i="0" lang="en-US" sz="2000" u="none" cap="none" strike="noStrike">
                <a:solidFill>
                  <a:schemeClr val="dk1"/>
                </a:solidFill>
                <a:latin typeface="Palatino"/>
                <a:ea typeface="Palatino"/>
                <a:cs typeface="Palatino"/>
                <a:sym typeface="Palatino"/>
              </a:rPr>
              <a:t>d</a:t>
            </a:r>
            <a:r>
              <a:rPr b="1" i="0" lang="en-US" sz="2000" u="none" cap="none" strike="noStrike">
                <a:solidFill>
                  <a:schemeClr val="dk1"/>
                </a:solidFill>
                <a:latin typeface="Palatino"/>
                <a:ea typeface="Palatino"/>
                <a:cs typeface="Palatino"/>
                <a:sym typeface="Palatino"/>
              </a:rPr>
              <a:t>-Term Evaluation | </a:t>
            </a:r>
            <a:r>
              <a:rPr b="1" lang="en-US" sz="2000">
                <a:solidFill>
                  <a:schemeClr val="dk1"/>
                </a:solidFill>
                <a:latin typeface="Palatino"/>
                <a:ea typeface="Palatino"/>
                <a:cs typeface="Palatino"/>
                <a:sym typeface="Palatino"/>
              </a:rPr>
              <a:t>Dec</a:t>
            </a:r>
            <a:r>
              <a:rPr b="1" i="0" lang="en-US" sz="2000" u="none" cap="none" strike="noStrike">
                <a:solidFill>
                  <a:schemeClr val="dk1"/>
                </a:solidFill>
                <a:latin typeface="Palatino"/>
                <a:ea typeface="Palatino"/>
                <a:cs typeface="Palatino"/>
                <a:sym typeface="Palatino"/>
              </a:rPr>
              <a:t> </a:t>
            </a:r>
            <a:r>
              <a:rPr b="1" lang="en-US" sz="2000">
                <a:solidFill>
                  <a:schemeClr val="dk1"/>
                </a:solidFill>
                <a:latin typeface="Palatino"/>
                <a:ea typeface="Palatino"/>
                <a:cs typeface="Palatino"/>
                <a:sym typeface="Palatino"/>
              </a:rPr>
              <a:t>12</a:t>
            </a:r>
            <a:r>
              <a:rPr b="1" i="0" lang="en-US" sz="2000" u="none" cap="none" strike="noStrike">
                <a:solidFill>
                  <a:schemeClr val="dk1"/>
                </a:solidFill>
                <a:latin typeface="Palatino"/>
                <a:ea typeface="Palatino"/>
                <a:cs typeface="Palatino"/>
                <a:sym typeface="Palatino"/>
              </a:rPr>
              <a:t>, 2025.</a:t>
            </a:r>
            <a:endParaRPr/>
          </a:p>
        </p:txBody>
      </p:sp>
      <p:sp>
        <p:nvSpPr>
          <p:cNvPr id="43" name="Google Shape;43;p1"/>
          <p:cNvSpPr txBox="1"/>
          <p:nvPr/>
        </p:nvSpPr>
        <p:spPr>
          <a:xfrm>
            <a:off x="517798" y="4498606"/>
            <a:ext cx="3620700" cy="245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Group No.: 60</a:t>
            </a:r>
            <a:endParaRPr>
              <a:latin typeface="Times New Roman"/>
              <a:ea typeface="Times New Roman"/>
              <a:cs typeface="Times New Roman"/>
              <a:sym typeface="Times New Roman"/>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marR="0" rtl="0" algn="l">
              <a:lnSpc>
                <a:spcPct val="114000"/>
              </a:lnSpc>
              <a:spcBef>
                <a:spcPts val="0"/>
              </a:spcBef>
              <a:spcAft>
                <a:spcPts val="0"/>
              </a:spcAft>
              <a:buNone/>
            </a:pPr>
            <a:r>
              <a:rPr b="1" lang="en-US" sz="1600">
                <a:solidFill>
                  <a:schemeClr val="dk1"/>
                </a:solidFill>
                <a:latin typeface="Times New Roman"/>
                <a:ea typeface="Times New Roman"/>
                <a:cs typeface="Times New Roman"/>
                <a:sym typeface="Times New Roman"/>
              </a:rPr>
              <a:t>Team Member (s)</a:t>
            </a:r>
            <a:endParaRPr b="1" sz="1600">
              <a:solidFill>
                <a:schemeClr val="dk1"/>
              </a:solidFill>
              <a:latin typeface="Times New Roman"/>
              <a:ea typeface="Times New Roman"/>
              <a:cs typeface="Times New Roman"/>
              <a:sym typeface="Times New Roman"/>
            </a:endParaRPr>
          </a:p>
          <a:p>
            <a:pPr indent="-285750" lvl="0" marL="285750" marR="0" rtl="0" algn="l">
              <a:lnSpc>
                <a:spcPct val="12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Arpita Rani</a:t>
            </a:r>
            <a:r>
              <a:rPr lang="en-US" sz="1500">
                <a:solidFill>
                  <a:schemeClr val="dk1"/>
                </a:solidFill>
                <a:latin typeface="Times New Roman"/>
                <a:ea typeface="Times New Roman"/>
                <a:cs typeface="Times New Roman"/>
                <a:sym typeface="Times New Roman"/>
              </a:rPr>
              <a:t> (221030055) </a:t>
            </a:r>
            <a:endParaRPr>
              <a:latin typeface="Times New Roman"/>
              <a:ea typeface="Times New Roman"/>
              <a:cs typeface="Times New Roman"/>
              <a:sym typeface="Times New Roman"/>
            </a:endParaRPr>
          </a:p>
          <a:p>
            <a:pPr indent="-285750" lvl="0" marL="285750" marR="0" rtl="0" algn="l">
              <a:lnSpc>
                <a:spcPct val="12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Anand Chaudhary</a:t>
            </a:r>
            <a:r>
              <a:rPr lang="en-US" sz="1500">
                <a:solidFill>
                  <a:schemeClr val="dk1"/>
                </a:solidFill>
                <a:latin typeface="Times New Roman"/>
                <a:ea typeface="Times New Roman"/>
                <a:cs typeface="Times New Roman"/>
                <a:sym typeface="Times New Roman"/>
              </a:rPr>
              <a:t> (221030123)</a:t>
            </a:r>
            <a:endParaRPr>
              <a:latin typeface="Times New Roman"/>
              <a:ea typeface="Times New Roman"/>
              <a:cs typeface="Times New Roman"/>
              <a:sym typeface="Times New Roman"/>
            </a:endParaRPr>
          </a:p>
          <a:p>
            <a:pPr indent="-285750" lvl="0" marL="285750" marR="0" rtl="0" algn="l">
              <a:lnSpc>
                <a:spcPct val="12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Rishal Rana</a:t>
            </a:r>
            <a:r>
              <a:rPr lang="en-US" sz="1500">
                <a:solidFill>
                  <a:schemeClr val="dk1"/>
                </a:solidFill>
                <a:latin typeface="Times New Roman"/>
                <a:ea typeface="Times New Roman"/>
                <a:cs typeface="Times New Roman"/>
                <a:sym typeface="Times New Roman"/>
              </a:rPr>
              <a:t> (221030004)</a:t>
            </a:r>
            <a:endParaRPr>
              <a:latin typeface="Times New Roman"/>
              <a:ea typeface="Times New Roman"/>
              <a:cs typeface="Times New Roman"/>
              <a:sym typeface="Times New Roman"/>
            </a:endParaRPr>
          </a:p>
          <a:p>
            <a:pPr indent="-285750" lvl="0" marL="285750" marR="0" rtl="0" algn="l">
              <a:lnSpc>
                <a:spcPct val="12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Arnav Sharma</a:t>
            </a:r>
            <a:r>
              <a:rPr lang="en-US" sz="1500">
                <a:solidFill>
                  <a:schemeClr val="dk1"/>
                </a:solidFill>
                <a:latin typeface="Times New Roman"/>
                <a:ea typeface="Times New Roman"/>
                <a:cs typeface="Times New Roman"/>
                <a:sym typeface="Times New Roman"/>
              </a:rPr>
              <a:t> (221030059)</a:t>
            </a:r>
            <a:endParaRPr>
              <a:latin typeface="Times New Roman"/>
              <a:ea typeface="Times New Roman"/>
              <a:cs typeface="Times New Roman"/>
              <a:sym typeface="Times New Roman"/>
            </a:endParaRPr>
          </a:p>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44" name="Google Shape;44;p1"/>
          <p:cNvSpPr txBox="1"/>
          <p:nvPr/>
        </p:nvSpPr>
        <p:spPr>
          <a:xfrm>
            <a:off x="4871438" y="5041029"/>
            <a:ext cx="4118400" cy="1300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imes New Roman"/>
                <a:ea typeface="Times New Roman"/>
                <a:cs typeface="Times New Roman"/>
                <a:sym typeface="Times New Roman"/>
              </a:rPr>
              <a:t>Supervisor</a:t>
            </a:r>
            <a:endParaRPr>
              <a:latin typeface="Times New Roman"/>
              <a:ea typeface="Times New Roman"/>
              <a:cs typeface="Times New Roman"/>
              <a:sym typeface="Times New Roman"/>
            </a:endParaRPr>
          </a:p>
          <a:p>
            <a:pPr indent="-323850" lvl="0" marL="457200" marR="0" rtl="0" algn="l">
              <a:lnSpc>
                <a:spcPct val="125000"/>
              </a:lnSpc>
              <a:spcBef>
                <a:spcPts val="1200"/>
              </a:spcBef>
              <a:spcAft>
                <a:spcPts val="0"/>
              </a:spcAft>
              <a:buSzPts val="1500"/>
              <a:buFont typeface="Times New Roman"/>
              <a:buChar char="●"/>
            </a:pPr>
            <a:r>
              <a:rPr lang="en-US" sz="1500">
                <a:solidFill>
                  <a:schemeClr val="dk1"/>
                </a:solidFill>
                <a:latin typeface="Times New Roman"/>
                <a:ea typeface="Times New Roman"/>
                <a:cs typeface="Times New Roman"/>
                <a:sym typeface="Times New Roman"/>
              </a:rPr>
              <a:t>Name: </a:t>
            </a:r>
            <a:r>
              <a:rPr lang="en-US" sz="1500">
                <a:solidFill>
                  <a:srgbClr val="252525"/>
                </a:solidFill>
                <a:highlight>
                  <a:srgbClr val="FFFFFF"/>
                </a:highlight>
                <a:latin typeface="Times New Roman"/>
                <a:ea typeface="Times New Roman"/>
                <a:cs typeface="Times New Roman"/>
                <a:sym typeface="Times New Roman"/>
              </a:rPr>
              <a:t>Prof. Dr. Vivek Kumar Sehgal</a:t>
            </a:r>
            <a:endParaRPr sz="1500">
              <a:latin typeface="Times New Roman"/>
              <a:ea typeface="Times New Roman"/>
              <a:cs typeface="Times New Roman"/>
              <a:sym typeface="Times New Roman"/>
            </a:endParaRPr>
          </a:p>
          <a:p>
            <a:pPr indent="-323850" lvl="0" marL="457200" marR="0" rtl="0" algn="l">
              <a:lnSpc>
                <a:spcPct val="12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Designation: Professor and Head of       Department (CSE &amp; IT) </a:t>
            </a:r>
            <a:endParaRPr>
              <a:latin typeface="Times New Roman"/>
              <a:ea typeface="Times New Roman"/>
              <a:cs typeface="Times New Roman"/>
              <a:sym typeface="Times New Roman"/>
            </a:endParaRPr>
          </a:p>
        </p:txBody>
      </p:sp>
      <p:pic>
        <p:nvPicPr>
          <p:cNvPr id="45" name="Google Shape;45;p1"/>
          <p:cNvPicPr preferRelativeResize="0"/>
          <p:nvPr/>
        </p:nvPicPr>
        <p:blipFill rotWithShape="1">
          <a:blip r:embed="rId3">
            <a:alphaModFix/>
          </a:blip>
          <a:srcRect b="0" l="0" r="0" t="0"/>
          <a:stretch/>
        </p:blipFill>
        <p:spPr>
          <a:xfrm>
            <a:off x="6852492" y="-165253"/>
            <a:ext cx="1178805" cy="895833"/>
          </a:xfrm>
          <a:prstGeom prst="rect">
            <a:avLst/>
          </a:prstGeom>
          <a:noFill/>
          <a:ln>
            <a:noFill/>
          </a:ln>
        </p:spPr>
      </p:pic>
      <p:pic>
        <p:nvPicPr>
          <p:cNvPr id="46" name="Google Shape;46;p1"/>
          <p:cNvPicPr preferRelativeResize="0"/>
          <p:nvPr/>
        </p:nvPicPr>
        <p:blipFill rotWithShape="1">
          <a:blip r:embed="rId4">
            <a:alphaModFix/>
          </a:blip>
          <a:srcRect b="0" l="0" r="0" t="0"/>
          <a:stretch/>
        </p:blipFill>
        <p:spPr>
          <a:xfrm>
            <a:off x="8054901" y="160424"/>
            <a:ext cx="1015707" cy="345492"/>
          </a:xfrm>
          <a:prstGeom prst="rect">
            <a:avLst/>
          </a:prstGeom>
          <a:noFill/>
          <a:ln>
            <a:noFill/>
          </a:ln>
        </p:spPr>
      </p:pic>
      <p:pic>
        <p:nvPicPr>
          <p:cNvPr descr="JUIT Office Photos | Glassdoor" id="47" name="Google Shape;47;p1"/>
          <p:cNvPicPr preferRelativeResize="0"/>
          <p:nvPr/>
        </p:nvPicPr>
        <p:blipFill rotWithShape="1">
          <a:blip r:embed="rId5">
            <a:alphaModFix/>
          </a:blip>
          <a:srcRect b="0" l="0" r="0" t="0"/>
          <a:stretch/>
        </p:blipFill>
        <p:spPr>
          <a:xfrm>
            <a:off x="11017" y="93342"/>
            <a:ext cx="815248" cy="679009"/>
          </a:xfrm>
          <a:prstGeom prst="rect">
            <a:avLst/>
          </a:prstGeom>
          <a:noFill/>
          <a:ln>
            <a:noFill/>
          </a:ln>
        </p:spPr>
      </p:pic>
      <p:sp>
        <p:nvSpPr>
          <p:cNvPr id="48" name="Google Shape;48;p1"/>
          <p:cNvSpPr txBox="1"/>
          <p:nvPr/>
        </p:nvSpPr>
        <p:spPr>
          <a:xfrm>
            <a:off x="-2" y="601361"/>
            <a:ext cx="9144000" cy="1411285"/>
          </a:xfrm>
          <a:prstGeom prst="rect">
            <a:avLst/>
          </a:prstGeom>
          <a:noFill/>
          <a:ln>
            <a:noFill/>
          </a:ln>
        </p:spPr>
        <p:txBody>
          <a:bodyPr anchorCtr="0" anchor="b" bIns="45700" lIns="91425" spcFirstLastPara="1" rIns="91425" wrap="square" tIns="45700">
            <a:noAutofit/>
          </a:bodyPr>
          <a:lstStyle/>
          <a:p>
            <a:pPr indent="0" lvl="0" marL="0" marR="0" rtl="0" algn="ctr">
              <a:lnSpc>
                <a:spcPct val="121428"/>
              </a:lnSpc>
              <a:spcBef>
                <a:spcPts val="0"/>
              </a:spcBef>
              <a:spcAft>
                <a:spcPts val="0"/>
              </a:spcAft>
              <a:buNone/>
            </a:pPr>
            <a:r>
              <a:rPr b="1" i="0" lang="en-US" sz="2800" u="none" strike="noStrike">
                <a:solidFill>
                  <a:srgbClr val="000099"/>
                </a:solidFill>
                <a:latin typeface="Palatino"/>
                <a:ea typeface="Palatino"/>
                <a:cs typeface="Palatino"/>
                <a:sym typeface="Palatino"/>
              </a:rPr>
              <a:t>Jaypee University of Information Technology</a:t>
            </a:r>
            <a:endParaRPr/>
          </a:p>
          <a:p>
            <a:pPr indent="0" lvl="0" marL="0" marR="0" rtl="0" algn="ctr">
              <a:lnSpc>
                <a:spcPct val="130769"/>
              </a:lnSpc>
              <a:spcBef>
                <a:spcPts val="0"/>
              </a:spcBef>
              <a:spcAft>
                <a:spcPts val="0"/>
              </a:spcAft>
              <a:buClr>
                <a:srgbClr val="000099"/>
              </a:buClr>
              <a:buSzPts val="2600"/>
              <a:buFont typeface="Palatino"/>
              <a:buNone/>
            </a:pPr>
            <a:r>
              <a:rPr b="1" i="0" lang="en-US" sz="2600" u="none" strike="noStrike">
                <a:solidFill>
                  <a:srgbClr val="000099"/>
                </a:solidFill>
                <a:latin typeface="Palatino"/>
                <a:ea typeface="Palatino"/>
                <a:cs typeface="Palatino"/>
                <a:sym typeface="Palatino"/>
              </a:rPr>
              <a:t>Department of Computer Science and Engineering and Information Technology</a:t>
            </a:r>
            <a:endParaRPr b="1" i="0" sz="2600" u="none" strike="noStrike">
              <a:solidFill>
                <a:srgbClr val="002060"/>
              </a:solidFill>
              <a:latin typeface="Palatino"/>
              <a:ea typeface="Palatino"/>
              <a:cs typeface="Palatino"/>
              <a:sym typeface="Palati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g3adce7c526b_1_220"/>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a:t>Outline</a:t>
            </a:r>
            <a:endParaRPr/>
          </a:p>
        </p:txBody>
      </p:sp>
      <p:sp>
        <p:nvSpPr>
          <p:cNvPr id="55" name="Google Shape;55;g3adce7c526b_1_220"/>
          <p:cNvSpPr txBox="1"/>
          <p:nvPr/>
        </p:nvSpPr>
        <p:spPr>
          <a:xfrm>
            <a:off x="77118" y="804231"/>
            <a:ext cx="4153500" cy="5794800"/>
          </a:xfrm>
          <a:prstGeom prst="rect">
            <a:avLst/>
          </a:prstGeom>
          <a:noFill/>
          <a:ln>
            <a:noFill/>
          </a:ln>
        </p:spPr>
        <p:txBody>
          <a:bodyPr anchorCtr="0" anchor="t" bIns="45700" lIns="91425" spcFirstLastPara="1" rIns="91425" wrap="square" tIns="45700">
            <a:noAutofit/>
          </a:bodyPr>
          <a:lstStyle/>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Introduction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Problem Statement</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Objectives</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Literature Review</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Work Done (after Mid-Term Evaluation)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Project Design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Tools, Technologies and Languages</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Dataset</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Implementation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Experimental Results and Evaluation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Key Learnings</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Work Contribution and Attendance</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Supervisor Interactions</a:t>
            </a:r>
            <a:endParaRPr sz="1500">
              <a:latin typeface="Times New Roman"/>
              <a:ea typeface="Times New Roman"/>
              <a:cs typeface="Times New Roman"/>
              <a:sym typeface="Times New Roman"/>
            </a:endParaRPr>
          </a:p>
          <a:p>
            <a:pPr indent="-134937" lvl="0" marL="357187" marR="0" rtl="0" algn="just">
              <a:lnSpc>
                <a:spcPct val="140000"/>
              </a:lnSpc>
              <a:spcBef>
                <a:spcPts val="560"/>
              </a:spcBef>
              <a:spcAft>
                <a:spcPts val="0"/>
              </a:spcAft>
              <a:buClr>
                <a:schemeClr val="dk1"/>
              </a:buClr>
              <a:buSzPts val="2000"/>
              <a:buFont typeface="Arial"/>
              <a:buNone/>
            </a:pPr>
            <a:r>
              <a:t/>
            </a:r>
            <a:endParaRPr sz="1700">
              <a:solidFill>
                <a:schemeClr val="dk1"/>
              </a:solidFill>
              <a:latin typeface="Times New Roman"/>
              <a:ea typeface="Times New Roman"/>
              <a:cs typeface="Times New Roman"/>
              <a:sym typeface="Times New Roman"/>
            </a:endParaRPr>
          </a:p>
          <a:p>
            <a:pPr indent="0" lvl="0" marL="0" marR="0" rtl="0" algn="just">
              <a:lnSpc>
                <a:spcPct val="150000"/>
              </a:lnSpc>
              <a:spcBef>
                <a:spcPts val="560"/>
              </a:spcBef>
              <a:spcAft>
                <a:spcPts val="0"/>
              </a:spcAft>
              <a:buClr>
                <a:schemeClr val="dk1"/>
              </a:buClr>
              <a:buSzPts val="2000"/>
              <a:buFont typeface="Arial"/>
              <a:buNone/>
            </a:pPr>
            <a:r>
              <a:t/>
            </a:r>
            <a:endParaRPr sz="1700">
              <a:solidFill>
                <a:schemeClr val="dk1"/>
              </a:solidFill>
              <a:latin typeface="Times New Roman"/>
              <a:ea typeface="Times New Roman"/>
              <a:cs typeface="Times New Roman"/>
              <a:sym typeface="Times New Roman"/>
            </a:endParaRPr>
          </a:p>
        </p:txBody>
      </p:sp>
      <p:sp>
        <p:nvSpPr>
          <p:cNvPr id="56" name="Google Shape;56;g3adce7c526b_1_220"/>
          <p:cNvSpPr txBox="1"/>
          <p:nvPr/>
        </p:nvSpPr>
        <p:spPr>
          <a:xfrm>
            <a:off x="5233012" y="804231"/>
            <a:ext cx="3834000" cy="5794800"/>
          </a:xfrm>
          <a:prstGeom prst="rect">
            <a:avLst/>
          </a:prstGeom>
          <a:noFill/>
          <a:ln>
            <a:noFill/>
          </a:ln>
        </p:spPr>
        <p:txBody>
          <a:bodyPr anchorCtr="0" anchor="t" bIns="45700" lIns="91425" spcFirstLastPara="1" rIns="91425" wrap="square" tIns="45700">
            <a:noAutofit/>
          </a:bodyPr>
          <a:lstStyle/>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Future Work</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Project Plan</a:t>
            </a:r>
            <a:endParaRPr sz="1500">
              <a:latin typeface="Times New Roman"/>
              <a:ea typeface="Times New Roman"/>
              <a:cs typeface="Times New Roman"/>
              <a:sym typeface="Times New Roman"/>
            </a:endParaRPr>
          </a:p>
          <a:p>
            <a:pPr indent="-268287" lvl="0" marL="357187" marR="0" rtl="0" algn="just">
              <a:lnSpc>
                <a:spcPct val="135000"/>
              </a:lnSpc>
              <a:spcBef>
                <a:spcPts val="0"/>
              </a:spcBef>
              <a:spcAft>
                <a:spcPts val="0"/>
              </a:spcAft>
              <a:buClr>
                <a:schemeClr val="dk1"/>
              </a:buClr>
              <a:buSzPts val="2100"/>
              <a:buFont typeface="Times New Roman"/>
              <a:buChar char="•"/>
            </a:pPr>
            <a:r>
              <a:rPr lang="en-US" sz="1700">
                <a:solidFill>
                  <a:schemeClr val="dk1"/>
                </a:solidFill>
                <a:latin typeface="Times New Roman"/>
                <a:ea typeface="Times New Roman"/>
                <a:cs typeface="Times New Roman"/>
                <a:sym typeface="Times New Roman"/>
              </a:rPr>
              <a:t>References</a:t>
            </a:r>
            <a:endParaRPr sz="1500">
              <a:latin typeface="Times New Roman"/>
              <a:ea typeface="Times New Roman"/>
              <a:cs typeface="Times New Roman"/>
              <a:sym typeface="Times New Roman"/>
            </a:endParaRPr>
          </a:p>
          <a:p>
            <a:pPr indent="0" lvl="0" marL="0" marR="0" rtl="0" algn="just">
              <a:lnSpc>
                <a:spcPct val="150000"/>
              </a:lnSpc>
              <a:spcBef>
                <a:spcPts val="560"/>
              </a:spcBef>
              <a:spcAft>
                <a:spcPts val="0"/>
              </a:spcAft>
              <a:buClr>
                <a:schemeClr val="dk1"/>
              </a:buClr>
              <a:buSzPts val="2000"/>
              <a:buFont typeface="Arial"/>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Introduction</a:t>
            </a:r>
            <a:endParaRPr/>
          </a:p>
        </p:txBody>
      </p:sp>
      <p:sp>
        <p:nvSpPr>
          <p:cNvPr id="62" name="Google Shape;62;p3"/>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With recent advancements, AI models like GPT, BERT, and LLaMA are being used everywhere from schools and hospitals to banks and customer service. It's impressive how well they can answer questions, but there's a catch: sometimes, they make things up. These “hallucinations” sound convincing, but they’re just not true.</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cause? LLMs don’t “know” facts, they predict what text sounds likely, based on patterns in their training data.</a:t>
            </a:r>
            <a:endParaRPr sz="1800">
              <a:solidFill>
                <a:schemeClr val="dk1"/>
              </a:solidFill>
              <a:latin typeface="Times New Roman"/>
              <a:ea typeface="Times New Roman"/>
              <a:cs typeface="Times New Roman"/>
              <a:sym typeface="Times New Roman"/>
            </a:endParaRPr>
          </a:p>
          <a:p>
            <a:pPr indent="-349250" lvl="0" marL="457200" rtl="0" algn="just">
              <a:lnSpc>
                <a:spcPct val="115000"/>
              </a:lnSpc>
              <a:spcBef>
                <a:spcPts val="0"/>
              </a:spcBef>
              <a:spcAft>
                <a:spcPts val="0"/>
              </a:spcAft>
              <a:buClr>
                <a:schemeClr val="dk1"/>
              </a:buClr>
              <a:buSzPts val="1900"/>
              <a:buFont typeface="Times New Roman"/>
              <a:buChar char="●"/>
            </a:pPr>
            <a:r>
              <a:rPr lang="en-US" sz="1800">
                <a:solidFill>
                  <a:schemeClr val="dk1"/>
                </a:solidFill>
                <a:latin typeface="Times New Roman"/>
                <a:ea typeface="Times New Roman"/>
                <a:cs typeface="Times New Roman"/>
                <a:sym typeface="Times New Roman"/>
              </a:rPr>
              <a:t>Gaps in data or weird edge cases can make them sound trustworthy when they’re actually fabricating details.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This is a real problem, especially when people are relying on AI for decisions in healthcare, legal stuff, or finance. Nobody wants a chatbot confidently giving out wrong advice!</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These errors aren’t rare: research shows hallucination rates can reach up to 80% on some tough queries, like law or science topics.</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Problem Statement</a:t>
            </a:r>
            <a:endParaRPr/>
          </a:p>
        </p:txBody>
      </p:sp>
      <p:sp>
        <p:nvSpPr>
          <p:cNvPr id="68" name="Google Shape;68;p4"/>
          <p:cNvSpPr txBox="1"/>
          <p:nvPr/>
        </p:nvSpPr>
        <p:spPr>
          <a:xfrm>
            <a:off x="77118" y="804232"/>
            <a:ext cx="8956714" cy="5761822"/>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Large Language Models (LLMs) generate text by predicting the most likely next word, not by verifying factual accuracy.</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This leads to AI hallucinations, confident-sounding but factually incorrect or made-up information.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Hallucinations can include:</a:t>
            </a:r>
            <a:endParaRPr sz="1800">
              <a:solidFill>
                <a:schemeClr val="dk1"/>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Fake facts or unsupported claims.</a:t>
            </a:r>
            <a:endParaRPr sz="1800">
              <a:solidFill>
                <a:schemeClr val="dk1"/>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Fabricated citations or references.</a:t>
            </a:r>
            <a:endParaRPr sz="1800">
              <a:solidFill>
                <a:schemeClr val="dk1"/>
              </a:solidFill>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Incorrect or misleading domain-specific advice (e.g., medical, legal, financial).</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These errors reduce user trust and pose serious risks in critical areas where accuracy is essential.</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Current mitigation techniques (prompt engineering, retrieval-augmented generation, RLHF) only partially reduce hallucinations and lack guaranteed real-time detection.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AI hallucinations remain a challenging and open issue for practical and safe deployment of AI systems.</a:t>
            </a:r>
            <a:endParaRPr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Objectives</a:t>
            </a:r>
            <a:endParaRPr/>
          </a:p>
        </p:txBody>
      </p:sp>
      <p:sp>
        <p:nvSpPr>
          <p:cNvPr id="74" name="Google Shape;74;p5"/>
          <p:cNvSpPr txBox="1"/>
          <p:nvPr/>
        </p:nvSpPr>
        <p:spPr>
          <a:xfrm>
            <a:off x="77118" y="804232"/>
            <a:ext cx="8956714" cy="5761822"/>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To develop a system that can automatically detect when an AI-generated answer is hallucinated or factually incorrect, ideally as soon as the answer is produced.</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To create a high-quality, labeled dataset of AI responses marked as factual or hallucinated for effective model training and benchmarking.</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To experiment with state-of-the-art machine learning and NLP techniques (like transformer-based models, semantic similarity checks, and knowledge graph verification) for identifying false information.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To optimize the system so it works reliably in real-world, time-sensitive environments (like web services or APIs).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To make AI-generated content more trustworthy and safe for anyone who uses it whether they're businesses, researchers, or just everyday users.</a:t>
            </a:r>
            <a:endParaRPr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Literature Review</a:t>
            </a:r>
            <a:endParaRPr b="0"/>
          </a:p>
        </p:txBody>
      </p:sp>
      <p:sp>
        <p:nvSpPr>
          <p:cNvPr id="80" name="Google Shape;80;p6"/>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81" name="Google Shape;81;p6"/>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2250"/>
                <a:gridCol w="1760275"/>
                <a:gridCol w="1465250"/>
                <a:gridCol w="1421175"/>
                <a:gridCol w="1828800"/>
                <a:gridCol w="1905925"/>
              </a:tblGrid>
              <a:tr h="760175">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S. No.</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Author &amp; </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Paper Title </a:t>
                      </a:r>
                      <a:br>
                        <a:rPr b="0" i="0" lang="en-US" sz="1400" u="none" cap="none" strike="noStrike">
                          <a:latin typeface="Times New Roman"/>
                          <a:ea typeface="Times New Roman"/>
                          <a:cs typeface="Times New Roman"/>
                          <a:sym typeface="Times New Roman"/>
                        </a:rPr>
                      </a:br>
                      <a:r>
                        <a:rPr b="0" i="0" lang="en-US" sz="1400" u="none" cap="none" strike="noStrike">
                          <a:latin typeface="Times New Roman"/>
                          <a:ea typeface="Times New Roman"/>
                          <a:cs typeface="Times New Roman"/>
                          <a:sym typeface="Times New Roman"/>
                        </a:rPr>
                        <a:t>[Citation]</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Journal/</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Conference</a:t>
                      </a:r>
                      <a:br>
                        <a:rPr b="0" i="0" lang="en-US" sz="1400" u="none" cap="none" strike="noStrike">
                          <a:latin typeface="Times New Roman"/>
                          <a:ea typeface="Times New Roman"/>
                          <a:cs typeface="Times New Roman"/>
                          <a:sym typeface="Times New Roman"/>
                        </a:rPr>
                      </a:br>
                      <a:r>
                        <a:rPr b="0" i="0" lang="en-US" sz="1400" u="none" cap="none" strike="noStrike">
                          <a:latin typeface="Times New Roman"/>
                          <a:ea typeface="Times New Roman"/>
                          <a:cs typeface="Times New Roman"/>
                          <a:sym typeface="Times New Roman"/>
                        </a:rPr>
                        <a:t>(Year)</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Tools/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Techniques/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Key Findings/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Limitations/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cap="none" strike="noStrike">
                          <a:latin typeface="Times New Roman"/>
                          <a:ea typeface="Times New Roman"/>
                          <a:cs typeface="Times New Roman"/>
                          <a:sym typeface="Times New Roman"/>
                        </a:rPr>
                        <a:t>Gaps Identified</a:t>
                      </a:r>
                      <a:endParaRPr>
                        <a:latin typeface="Times New Roman"/>
                        <a:ea typeface="Times New Roman"/>
                        <a:cs typeface="Times New Roman"/>
                        <a:sym typeface="Times New Roman"/>
                      </a:endParaRPr>
                    </a:p>
                  </a:txBody>
                  <a:tcPr marT="45725" marB="45725" marR="91450" marL="91450">
                    <a:solidFill>
                      <a:srgbClr val="606029"/>
                    </a:solidFill>
                  </a:tcPr>
                </a:tc>
              </a:tr>
              <a:tr h="1203625">
                <a:tc>
                  <a:txBody>
                    <a:bodyPr/>
                    <a:lstStyle/>
                    <a:p>
                      <a:pPr indent="0" lvl="0" marL="0" marR="0" rtl="0" algn="ctr">
                        <a:spcBef>
                          <a:spcPts val="0"/>
                        </a:spcBef>
                        <a:spcAft>
                          <a:spcPts val="0"/>
                        </a:spcAft>
                        <a:buNone/>
                      </a:pPr>
                      <a:r>
                        <a:rPr i="0" lang="en-US" u="none" cap="none" strike="noStrike">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spcBef>
                          <a:spcPts val="0"/>
                        </a:spcBef>
                        <a:spcAft>
                          <a:spcPts val="0"/>
                        </a:spcAft>
                        <a:buNone/>
                      </a:pPr>
                      <a:r>
                        <a:rPr lang="en-US" sz="1150">
                          <a:latin typeface="Times New Roman"/>
                          <a:ea typeface="Times New Roman"/>
                          <a:cs typeface="Times New Roman"/>
                          <a:sym typeface="Times New Roman"/>
                        </a:rPr>
                        <a:t>Brahm</a:t>
                      </a:r>
                      <a:r>
                        <a:rPr lang="en-US" sz="1200">
                          <a:latin typeface="Times New Roman"/>
                          <a:ea typeface="Times New Roman"/>
                          <a:cs typeface="Times New Roman"/>
                          <a:sym typeface="Times New Roman"/>
                        </a:rPr>
                        <a:t>aleen</a:t>
                      </a:r>
                      <a:r>
                        <a:rPr lang="en-US" sz="1150">
                          <a:latin typeface="Times New Roman"/>
                          <a:ea typeface="Times New Roman"/>
                          <a:cs typeface="Times New Roman"/>
                          <a:sym typeface="Times New Roman"/>
                        </a:rPr>
                        <a:t> Kaur Sidhu, "Hallucinations in Artificial Intelligence: Origins, Detection, and Mitigation" [SR241229170309]</a:t>
                      </a:r>
                      <a:endParaRPr sz="15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spcBef>
                          <a:spcPts val="0"/>
                        </a:spcBef>
                        <a:spcAft>
                          <a:spcPts val="0"/>
                        </a:spcAft>
                        <a:buNone/>
                      </a:pPr>
                      <a:r>
                        <a:rPr lang="en-US" sz="1150">
                          <a:latin typeface="Times New Roman"/>
                          <a:ea typeface="Times New Roman"/>
                          <a:cs typeface="Times New Roman"/>
                          <a:sym typeface="Times New Roman"/>
                        </a:rPr>
                        <a:t>IJSR (2025)</a:t>
                      </a:r>
                      <a:endParaRPr sz="15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spcBef>
                          <a:spcPts val="0"/>
                        </a:spcBef>
                        <a:spcAft>
                          <a:spcPts val="0"/>
                        </a:spcAft>
                        <a:buClr>
                          <a:srgbClr val="000000"/>
                        </a:buClr>
                        <a:buSzPts val="1100"/>
                        <a:buFont typeface="Arial"/>
                        <a:buNone/>
                      </a:pPr>
                      <a:r>
                        <a:rPr lang="en-US" sz="1150">
                          <a:latin typeface="Times New Roman"/>
                          <a:ea typeface="Times New Roman"/>
                          <a:cs typeface="Times New Roman"/>
                          <a:sym typeface="Times New Roman"/>
                        </a:rPr>
                        <a:t>Review; SelfCheckGPT, ChatProtect, GPTScore, RHO, NPH, RAG, MixCL, HERMAN; datasets incl. WikiBio, OpenDialKG</a:t>
                      </a:r>
                      <a:endParaRPr sz="15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spcBef>
                          <a:spcPts val="0"/>
                        </a:spcBef>
                        <a:spcAft>
                          <a:spcPts val="0"/>
                        </a:spcAft>
                        <a:buNone/>
                      </a:pPr>
                      <a:r>
                        <a:rPr lang="en-US" sz="1150">
                          <a:latin typeface="Times New Roman"/>
                          <a:ea typeface="Times New Roman"/>
                          <a:cs typeface="Times New Roman"/>
                          <a:sym typeface="Times New Roman"/>
                        </a:rPr>
                        <a:t>Categorizes AI hallucinations, surveys detection/mitigation models, urges multi-method approaches</a:t>
                      </a:r>
                      <a:endParaRPr sz="15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spcBef>
                          <a:spcPts val="0"/>
                        </a:spcBef>
                        <a:spcAft>
                          <a:spcPts val="0"/>
                        </a:spcAft>
                        <a:buNone/>
                      </a:pPr>
                      <a:r>
                        <a:rPr lang="en-US" sz="1150">
                          <a:latin typeface="Times New Roman"/>
                          <a:ea typeface="Times New Roman"/>
                          <a:cs typeface="Times New Roman"/>
                          <a:sym typeface="Times New Roman"/>
                        </a:rPr>
                        <a:t>Detection tools lack context focus; output quality gaps; factual alignment remains challenging </a:t>
                      </a:r>
                      <a:endParaRPr sz="1500">
                        <a:latin typeface="Times New Roman"/>
                        <a:ea typeface="Times New Roman"/>
                        <a:cs typeface="Times New Roman"/>
                        <a:sym typeface="Times New Roman"/>
                      </a:endParaRPr>
                    </a:p>
                  </a:txBody>
                  <a:tcPr marT="45725" marB="45725" marR="91450" marL="91450">
                    <a:solidFill>
                      <a:srgbClr val="D5D59B"/>
                    </a:solidFill>
                  </a:tcPr>
                </a:tc>
              </a:tr>
              <a:tr h="1203625">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Zhiyang Chen et al., "Mitigating Hallucination in Visual Language Models with Visual Supervision" [arXiv:2311.16479]</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arXiv (2023)</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Visual annotation (PSG, SAM), Mask prediction, RAH-Bench</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Fine-grained annotation, mask prediction loss, and visual supervision help LVLMs reduce three types of hallucination and outperform baseline models</a:t>
                      </a:r>
                      <a:endParaRPr sz="15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Data format coupling; limited dataset size; method needs generalization across annotation formats</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r>
              <a:tr h="1203625">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3.</a:t>
                      </a:r>
                      <a:endParaRPr sz="16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solidFill>
                      <a:srgbClr val="D5D59B"/>
                    </a:solidFill>
                  </a:tcPr>
                </a:tc>
                <a:tc>
                  <a:txBody>
                    <a:bodyPr/>
                    <a:lstStyle/>
                    <a:p>
                      <a:pPr indent="0" lvl="0" marL="0" rtl="0" algn="l">
                        <a:lnSpc>
                          <a:spcPct val="115000"/>
                        </a:lnSpc>
                        <a:spcBef>
                          <a:spcPts val="0"/>
                        </a:spcBef>
                        <a:spcAft>
                          <a:spcPts val="0"/>
                        </a:spcAft>
                        <a:buSzPts val="1100"/>
                        <a:buNone/>
                      </a:pPr>
                      <a:r>
                        <a:rPr lang="en-US" sz="1100">
                          <a:latin typeface="Times New Roman"/>
                          <a:ea typeface="Times New Roman"/>
                          <a:cs typeface="Times New Roman"/>
                          <a:sym typeface="Times New Roman"/>
                        </a:rPr>
                        <a:t>Dylan Bouchard et al., "UQLM: Uncertainty Quantification for Language Models" [arXiv:2507.06196v1]</a:t>
                      </a:r>
                      <a:endParaRPr sz="1100">
                        <a:latin typeface="Times New Roman"/>
                        <a:ea typeface="Times New Roman"/>
                        <a:cs typeface="Times New Roman"/>
                        <a:sym typeface="Times New Roman"/>
                      </a:endParaRPr>
                    </a:p>
                    <a:p>
                      <a:pPr indent="0" lvl="0" marL="0" marR="0" rtl="0" algn="l">
                        <a:spcBef>
                          <a:spcPts val="0"/>
                        </a:spcBef>
                        <a:spcAft>
                          <a:spcPts val="0"/>
                        </a:spcAft>
                        <a:buNone/>
                      </a:pPr>
                      <a:r>
                        <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lang="en-US" sz="1100">
                          <a:latin typeface="Times New Roman"/>
                          <a:ea typeface="Times New Roman"/>
                          <a:cs typeface="Times New Roman"/>
                          <a:sym typeface="Times New Roman"/>
                        </a:rPr>
                        <a:t>arXiv (2025)</a:t>
                      </a:r>
                      <a:endParaRPr sz="1100">
                        <a:latin typeface="Times New Roman"/>
                        <a:ea typeface="Times New Roman"/>
                        <a:cs typeface="Times New Roman"/>
                        <a:sym typeface="Times New Roman"/>
                      </a:endParaRPr>
                    </a:p>
                    <a:p>
                      <a:pPr indent="0" lvl="0" marL="0" marR="0" rtl="0" algn="l">
                        <a:spcBef>
                          <a:spcPts val="0"/>
                        </a:spcBef>
                        <a:spcAft>
                          <a:spcPts val="0"/>
                        </a:spcAft>
                        <a:buNone/>
                      </a:pPr>
                      <a:r>
                        <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lang="en-US" sz="1100">
                          <a:latin typeface="Times New Roman"/>
                          <a:ea typeface="Times New Roman"/>
                          <a:cs typeface="Times New Roman"/>
                          <a:sym typeface="Times New Roman"/>
                        </a:rPr>
                        <a:t>Python package 'uqlm', UQ-based scoring methods (Black-Box, White-Box, LLM-as-Judge), multiple existing benchmarks</a:t>
                      </a:r>
                      <a:endParaRPr sz="1100">
                        <a:latin typeface="Times New Roman"/>
                        <a:ea typeface="Times New Roman"/>
                        <a:cs typeface="Times New Roman"/>
                        <a:sym typeface="Times New Roman"/>
                      </a:endParaRPr>
                    </a:p>
                    <a:p>
                      <a:pPr indent="0" lvl="0" marL="0" marR="0" rtl="0" algn="l">
                        <a:spcBef>
                          <a:spcPts val="0"/>
                        </a:spcBef>
                        <a:spcAft>
                          <a:spcPts val="0"/>
                        </a:spcAft>
                        <a:buNone/>
                      </a:pPr>
                      <a:r>
                        <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lang="en-US" sz="1100">
                          <a:latin typeface="Times New Roman"/>
                          <a:ea typeface="Times New Roman"/>
                          <a:cs typeface="Times New Roman"/>
                          <a:sym typeface="Times New Roman"/>
                        </a:rPr>
                        <a:t>Provides library for uncertainty-based hallucination detection at generation time; democratizes advanced quantification for LLM outputs</a:t>
                      </a:r>
                      <a:endParaRPr sz="1100">
                        <a:latin typeface="Times New Roman"/>
                        <a:ea typeface="Times New Roman"/>
                        <a:cs typeface="Times New Roman"/>
                        <a:sym typeface="Times New Roman"/>
                      </a:endParaRPr>
                    </a:p>
                    <a:p>
                      <a:pPr indent="0" lvl="0" marL="0" marR="0" rtl="0" algn="l">
                        <a:spcBef>
                          <a:spcPts val="0"/>
                        </a:spcBef>
                        <a:spcAft>
                          <a:spcPts val="0"/>
                        </a:spcAft>
                        <a:buNone/>
                      </a:pPr>
                      <a:r>
                        <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Limited technique scope in prior tools; adoption and ease-of-use for non-experts remains; external fact-checking still a challenge</a:t>
                      </a:r>
                      <a:endParaRPr sz="1100">
                        <a:latin typeface="Times New Roman"/>
                        <a:ea typeface="Times New Roman"/>
                        <a:cs typeface="Times New Roman"/>
                        <a:sym typeface="Times New Roman"/>
                      </a:endParaRPr>
                    </a:p>
                    <a:p>
                      <a:pPr indent="-95250" lvl="0" marL="171450" marR="0" rtl="0" algn="l">
                        <a:spcBef>
                          <a:spcPts val="0"/>
                        </a:spcBef>
                        <a:spcAft>
                          <a:spcPts val="0"/>
                        </a:spcAft>
                        <a:buClr>
                          <a:schemeClr val="dk1"/>
                        </a:buClr>
                        <a:buSzPts val="1200"/>
                        <a:buFont typeface="Arial"/>
                        <a:buNone/>
                      </a:pPr>
                      <a:r>
                        <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Literature Review (cont…)</a:t>
            </a:r>
            <a:endParaRPr b="0"/>
          </a:p>
        </p:txBody>
      </p:sp>
      <p:sp>
        <p:nvSpPr>
          <p:cNvPr id="87" name="Google Shape;87;p7"/>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88" name="Google Shape;88;p7"/>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2250"/>
                <a:gridCol w="1760275"/>
                <a:gridCol w="1465250"/>
                <a:gridCol w="1421175"/>
                <a:gridCol w="1828800"/>
                <a:gridCol w="1905925"/>
              </a:tblGrid>
              <a:tr h="760175">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S. No.</a:t>
                      </a:r>
                      <a:endParaRPr>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Author &amp; </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Paper Title </a:t>
                      </a:r>
                      <a:br>
                        <a:rPr b="0" i="0" lang="en-US" sz="1400">
                          <a:latin typeface="Times New Roman"/>
                          <a:ea typeface="Times New Roman"/>
                          <a:cs typeface="Times New Roman"/>
                          <a:sym typeface="Times New Roman"/>
                        </a:rPr>
                      </a:br>
                      <a:r>
                        <a:rPr b="0" i="0" lang="en-US" sz="1400">
                          <a:latin typeface="Times New Roman"/>
                          <a:ea typeface="Times New Roman"/>
                          <a:cs typeface="Times New Roman"/>
                          <a:sym typeface="Times New Roman"/>
                        </a:rPr>
                        <a:t>[Citation]</a:t>
                      </a:r>
                      <a:endParaRPr>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Journal/</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Conference</a:t>
                      </a:r>
                      <a:br>
                        <a:rPr b="0" i="0" lang="en-US" sz="1400">
                          <a:latin typeface="Times New Roman"/>
                          <a:ea typeface="Times New Roman"/>
                          <a:cs typeface="Times New Roman"/>
                          <a:sym typeface="Times New Roman"/>
                        </a:rPr>
                      </a:br>
                      <a:r>
                        <a:rPr b="0" i="0" lang="en-US" sz="1400">
                          <a:latin typeface="Times New Roman"/>
                          <a:ea typeface="Times New Roman"/>
                          <a:cs typeface="Times New Roman"/>
                          <a:sym typeface="Times New Roman"/>
                        </a:rPr>
                        <a:t>(Year)</a:t>
                      </a:r>
                      <a:endParaRPr>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Tools/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Techniques/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Key Findings/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Limitations/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Gaps Identified</a:t>
                      </a:r>
                      <a:endParaRPr>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606029"/>
                    </a:solidFill>
                  </a:tcPr>
                </a:tc>
              </a:tr>
              <a:tr h="1203625">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4</a:t>
                      </a:r>
                      <a:r>
                        <a:rPr i="0" lang="en-US" sz="1300" u="none" cap="none" strike="noStrike">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Adam Tauman Kalai et al., "Why Language Models Hallucinate" [OpenAI/Georgia Tech, Sep 2025]</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Preprint (2025)</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Theoretical analysis, meta-evaluation of LLM benchmarks</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Hallucinations arise from statistical pressures in training; binary evaluations reward guessing over uncertainty</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Benchmarks penalize uncertainty; socio-technical fixes needed in evaluation/grading; open questions on uncertainty signaling</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r>
              <a:tr h="1203625">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5</a:t>
                      </a:r>
                      <a:r>
                        <a:rPr i="0" lang="en-US" sz="13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Zhang et al., “Siren’s Song in the AI Ocean: A Survey on Hallucination in Large Language Models,” 2023</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i="1" lang="en-US" sz="1200">
                          <a:latin typeface="Times New Roman"/>
                          <a:ea typeface="Times New Roman"/>
                          <a:cs typeface="Times New Roman"/>
                          <a:sym typeface="Times New Roman"/>
                        </a:rPr>
                        <a:t>arXiv preprint</a:t>
                      </a:r>
                      <a:r>
                        <a:rPr lang="en-US" sz="1200">
                          <a:latin typeface="Times New Roman"/>
                          <a:ea typeface="Times New Roman"/>
                          <a:cs typeface="Times New Roman"/>
                          <a:sym typeface="Times New Roman"/>
                        </a:rPr>
                        <a:t> (2023).</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100">
                          <a:latin typeface="Times New Roman"/>
                          <a:ea typeface="Times New Roman"/>
                          <a:cs typeface="Times New Roman"/>
                          <a:sym typeface="Times New Roman"/>
                        </a:rPr>
                        <a:t>Literature review across detection &amp; mitigation strategies.</a:t>
                      </a:r>
                      <a:endParaRPr sz="11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100">
                          <a:latin typeface="Times New Roman"/>
                          <a:ea typeface="Times New Roman"/>
                          <a:cs typeface="Times New Roman"/>
                          <a:sym typeface="Times New Roman"/>
                        </a:rPr>
                        <a:t>Showed hallucinations are systemic; reviewed detection (fact-checking, NLI, uncertainty) and mitigation (RAG, consistency, instruction tuning).</a:t>
                      </a:r>
                      <a:endParaRPr sz="11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100">
                          <a:latin typeface="Times New Roman"/>
                          <a:ea typeface="Times New Roman"/>
                          <a:cs typeface="Times New Roman"/>
                          <a:sym typeface="Times New Roman"/>
                        </a:rPr>
                        <a:t>Conceptual; lacks empirical evaluation; limited to text-based LLMs</a:t>
                      </a:r>
                      <a:endParaRPr sz="11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0F0DD"/>
                    </a:solidFill>
                  </a:tcPr>
                </a:tc>
              </a:tr>
              <a:tr h="1203625">
                <a:tc>
                  <a:txBody>
                    <a:bodyPr/>
                    <a:lstStyle/>
                    <a:p>
                      <a:pPr indent="0" lvl="0" marL="0" marR="0" rtl="0" algn="ctr">
                        <a:spcBef>
                          <a:spcPts val="0"/>
                        </a:spcBef>
                        <a:spcAft>
                          <a:spcPts val="0"/>
                        </a:spcAft>
                        <a:buNone/>
                      </a:pPr>
                      <a:r>
                        <a:rPr lang="en-US" sz="1300">
                          <a:latin typeface="Times New Roman"/>
                          <a:ea typeface="Times New Roman"/>
                          <a:cs typeface="Times New Roman"/>
                          <a:sym typeface="Times New Roman"/>
                        </a:rPr>
                        <a:t>6</a:t>
                      </a:r>
                      <a:r>
                        <a:rPr i="0" lang="en-US" sz="13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just">
                        <a:spcBef>
                          <a:spcPts val="0"/>
                        </a:spcBef>
                        <a:spcAft>
                          <a:spcPts val="0"/>
                        </a:spcAft>
                        <a:buSzPts val="1100"/>
                        <a:buNone/>
                      </a:pPr>
                      <a:r>
                        <a:rPr lang="en-US" sz="1150">
                          <a:latin typeface="Times New Roman"/>
                          <a:ea typeface="Times New Roman"/>
                          <a:cs typeface="Times New Roman"/>
                          <a:sym typeface="Times New Roman"/>
                        </a:rPr>
                        <a:t>Chaoyou Fu et al.</a:t>
                      </a:r>
                      <a:endParaRPr sz="1150">
                        <a:latin typeface="Times New Roman"/>
                        <a:ea typeface="Times New Roman"/>
                        <a:cs typeface="Times New Roman"/>
                        <a:sym typeface="Times New Roman"/>
                      </a:endParaRPr>
                    </a:p>
                    <a:p>
                      <a:pPr indent="0" lvl="0" marL="0" rtl="0" algn="just">
                        <a:spcBef>
                          <a:spcPts val="0"/>
                        </a:spcBef>
                        <a:spcAft>
                          <a:spcPts val="0"/>
                        </a:spcAft>
                        <a:buSzPts val="1100"/>
                        <a:buNone/>
                      </a:pPr>
                      <a:r>
                        <a:rPr lang="en-US" sz="1150">
                          <a:latin typeface="Times New Roman"/>
                          <a:ea typeface="Times New Roman"/>
                          <a:cs typeface="Times New Roman"/>
                          <a:sym typeface="Times New Roman"/>
                        </a:rPr>
                        <a:t>MME: A Comprehensive Evaluation Benchmark for Multimodal Large Language Models</a:t>
                      </a:r>
                      <a:endParaRPr sz="1150">
                        <a:latin typeface="Times New Roman"/>
                        <a:ea typeface="Times New Roman"/>
                        <a:cs typeface="Times New Roman"/>
                        <a:sym typeface="Times New Roman"/>
                      </a:endParaRPr>
                    </a:p>
                    <a:p>
                      <a:pPr indent="0" lvl="0" marL="0" marR="0" rtl="0" algn="just">
                        <a:spcBef>
                          <a:spcPts val="0"/>
                        </a:spcBef>
                        <a:spcAft>
                          <a:spcPts val="0"/>
                        </a:spcAft>
                        <a:buNone/>
                      </a:pPr>
                      <a:r>
                        <a:rPr lang="en-US" sz="1150">
                          <a:latin typeface="Times New Roman"/>
                          <a:ea typeface="Times New Roman"/>
                          <a:cs typeface="Times New Roman"/>
                          <a:sym typeface="Times New Roman"/>
                        </a:rPr>
                        <a:t>[Fu et al., arXiv:2306.13394]</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marR="0" rtl="0" algn="just">
                        <a:spcBef>
                          <a:spcPts val="0"/>
                        </a:spcBef>
                        <a:spcAft>
                          <a:spcPts val="0"/>
                        </a:spcAft>
                        <a:buNone/>
                      </a:pPr>
                      <a:r>
                        <a:rPr lang="en-US" sz="1150">
                          <a:latin typeface="Times New Roman"/>
                          <a:ea typeface="Times New Roman"/>
                          <a:cs typeface="Times New Roman"/>
                          <a:sym typeface="Times New Roman"/>
                        </a:rPr>
                        <a:t>arXiv Preprint (2024)</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b="1" lang="en-US" sz="1100">
                          <a:latin typeface="Times New Roman"/>
                          <a:ea typeface="Times New Roman"/>
                          <a:cs typeface="Times New Roman"/>
                          <a:sym typeface="Times New Roman"/>
                        </a:rPr>
                        <a:t>Technique:</a:t>
                      </a:r>
                      <a:r>
                        <a:rPr lang="en-US" sz="1100">
                          <a:latin typeface="Times New Roman"/>
                          <a:ea typeface="Times New Roman"/>
                          <a:cs typeface="Times New Roman"/>
                          <a:sym typeface="Times New Roman"/>
                        </a:rPr>
                        <a:t> MME benchmark with manual yes/no instruction-answer pairs.</a:t>
                      </a:r>
                      <a:endParaRPr sz="1100">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b="1" lang="en-US" sz="1100">
                          <a:latin typeface="Times New Roman"/>
                          <a:ea typeface="Times New Roman"/>
                          <a:cs typeface="Times New Roman"/>
                          <a:sym typeface="Times New Roman"/>
                        </a:rPr>
                        <a:t>Models:</a:t>
                      </a:r>
                      <a:r>
                        <a:rPr lang="en-US" sz="1100">
                          <a:latin typeface="Times New Roman"/>
                          <a:ea typeface="Times New Roman"/>
                          <a:cs typeface="Times New Roman"/>
                          <a:sym typeface="Times New Roman"/>
                        </a:rPr>
                        <a:t> 30 MLLMs (e.g., GPT-4V, LLaVA).</a:t>
                      </a:r>
                      <a:endParaRPr sz="1100">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b="1" lang="en-US" sz="1100">
                          <a:latin typeface="Times New Roman"/>
                          <a:ea typeface="Times New Roman"/>
                          <a:cs typeface="Times New Roman"/>
                          <a:sym typeface="Times New Roman"/>
                        </a:rPr>
                        <a:t>Metrics:</a:t>
                      </a:r>
                      <a:r>
                        <a:rPr lang="en-US" sz="1100">
                          <a:latin typeface="Times New Roman"/>
                          <a:ea typeface="Times New Roman"/>
                          <a:cs typeface="Times New Roman"/>
                          <a:sym typeface="Times New Roman"/>
                        </a:rPr>
                        <a:t> Accuracy, Accuracy+.</a:t>
                      </a:r>
                      <a:endParaRPr sz="1100">
                        <a:latin typeface="Times New Roman"/>
                        <a:ea typeface="Times New Roman"/>
                        <a:cs typeface="Times New Roman"/>
                        <a:sym typeface="Times New Roman"/>
                      </a:endParaRPr>
                    </a:p>
                    <a:p>
                      <a:pPr indent="0" lvl="0" marL="0" marR="0" rtl="0" algn="just">
                        <a:lnSpc>
                          <a:spcPct val="171429"/>
                        </a:lnSpc>
                        <a:spcBef>
                          <a:spcPts val="1100"/>
                        </a:spcBef>
                        <a:spcAft>
                          <a:spcPts val="1100"/>
                        </a:spcAft>
                        <a:buNone/>
                      </a:pPr>
                      <a:r>
                        <a:t/>
                      </a:r>
                      <a:endParaRPr i="0"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marR="0" rtl="0" algn="just">
                        <a:spcBef>
                          <a:spcPts val="0"/>
                        </a:spcBef>
                        <a:spcAft>
                          <a:spcPts val="0"/>
                        </a:spcAft>
                        <a:buNone/>
                      </a:pPr>
                      <a:r>
                        <a:rPr lang="en-US" sz="1150">
                          <a:latin typeface="Times New Roman"/>
                          <a:ea typeface="Times New Roman"/>
                          <a:cs typeface="Times New Roman"/>
                          <a:sym typeface="Times New Roman"/>
                        </a:rPr>
                        <a:t>Benchmarked perception (existence, count, color, position, OCR, etc.) and cognition (reasoning, calculation, translation, code) abilities for 30 models. Identified persistent gaps: failure to follow instructions, perception errors, object hallucination, and reasoning limitations.</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95250" lvl="0" marL="171450" marR="0" rtl="0" algn="just">
                        <a:spcBef>
                          <a:spcPts val="0"/>
                        </a:spcBef>
                        <a:spcAft>
                          <a:spcPts val="0"/>
                        </a:spcAft>
                        <a:buClr>
                          <a:schemeClr val="dk1"/>
                        </a:buClr>
                        <a:buSzPts val="1200"/>
                        <a:buFont typeface="Arial"/>
                        <a:buNone/>
                      </a:pPr>
                      <a:r>
                        <a:rPr lang="en-US" sz="1150">
                          <a:latin typeface="Times New Roman"/>
                          <a:ea typeface="Times New Roman"/>
                          <a:cs typeface="Times New Roman"/>
                          <a:sym typeface="Times New Roman"/>
                        </a:rPr>
                        <a:t>Models struggle with concise instructions, object perception, and universal robust reasoning. Data leakage risk and challenge of instruction generalization. Not all cognitive tasks achieved high accuracy; further benchmarking needed.</a:t>
                      </a:r>
                      <a:endParaRPr i="0" sz="13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Literature Review (cont…)</a:t>
            </a:r>
            <a:endParaRPr b="0"/>
          </a:p>
        </p:txBody>
      </p:sp>
      <p:sp>
        <p:nvSpPr>
          <p:cNvPr id="94" name="Google Shape;94;p8"/>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95" name="Google Shape;95;p8"/>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4250"/>
                <a:gridCol w="1766800"/>
                <a:gridCol w="1470675"/>
                <a:gridCol w="1426425"/>
                <a:gridCol w="1835575"/>
                <a:gridCol w="1912975"/>
              </a:tblGrid>
              <a:tr h="700525">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S. No.</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Author &amp; </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Paper Title </a:t>
                      </a:r>
                      <a:br>
                        <a:rPr b="0" i="0" lang="en-US" sz="1400">
                          <a:latin typeface="Times New Roman"/>
                          <a:ea typeface="Times New Roman"/>
                          <a:cs typeface="Times New Roman"/>
                          <a:sym typeface="Times New Roman"/>
                        </a:rPr>
                      </a:br>
                      <a:r>
                        <a:rPr b="0" i="0" lang="en-US" sz="1400">
                          <a:latin typeface="Times New Roman"/>
                          <a:ea typeface="Times New Roman"/>
                          <a:cs typeface="Times New Roman"/>
                          <a:sym typeface="Times New Roman"/>
                        </a:rPr>
                        <a:t>[Citation]</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Journal/</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Conference</a:t>
                      </a:r>
                      <a:br>
                        <a:rPr b="0" i="0" lang="en-US" sz="1400">
                          <a:latin typeface="Times New Roman"/>
                          <a:ea typeface="Times New Roman"/>
                          <a:cs typeface="Times New Roman"/>
                          <a:sym typeface="Times New Roman"/>
                        </a:rPr>
                      </a:br>
                      <a:r>
                        <a:rPr b="0" i="0" lang="en-US" sz="1400">
                          <a:latin typeface="Times New Roman"/>
                          <a:ea typeface="Times New Roman"/>
                          <a:cs typeface="Times New Roman"/>
                          <a:sym typeface="Times New Roman"/>
                        </a:rPr>
                        <a:t>(Year)</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Tools/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Techniques/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Dataset</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Key Findings/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Times New Roman"/>
                          <a:ea typeface="Times New Roman"/>
                          <a:cs typeface="Times New Roman"/>
                          <a:sym typeface="Times New Roman"/>
                        </a:rPr>
                        <a:t>Limitations/</a:t>
                      </a:r>
                      <a:endParaRPr>
                        <a:latin typeface="Times New Roman"/>
                        <a:ea typeface="Times New Roman"/>
                        <a:cs typeface="Times New Roman"/>
                        <a:sym typeface="Times New Roman"/>
                      </a:endParaRPr>
                    </a:p>
                    <a:p>
                      <a:pPr indent="0" lvl="0" marL="0" marR="0" rtl="0" algn="ctr">
                        <a:spcBef>
                          <a:spcPts val="0"/>
                        </a:spcBef>
                        <a:spcAft>
                          <a:spcPts val="0"/>
                        </a:spcAft>
                        <a:buNone/>
                      </a:pPr>
                      <a:r>
                        <a:rPr b="0" i="0" lang="en-US" sz="1400">
                          <a:latin typeface="Times New Roman"/>
                          <a:ea typeface="Times New Roman"/>
                          <a:cs typeface="Times New Roman"/>
                          <a:sym typeface="Times New Roman"/>
                        </a:rPr>
                        <a:t>Gaps Identified</a:t>
                      </a:r>
                      <a:endParaRPr>
                        <a:latin typeface="Times New Roman"/>
                        <a:ea typeface="Times New Roman"/>
                        <a:cs typeface="Times New Roman"/>
                        <a:sym typeface="Times New Roman"/>
                      </a:endParaRPr>
                    </a:p>
                  </a:txBody>
                  <a:tcPr marT="45725" marB="45725" marR="91450" marL="91450">
                    <a:solidFill>
                      <a:srgbClr val="606029"/>
                    </a:solidFill>
                  </a:tcPr>
                </a:tc>
              </a:tr>
              <a:tr h="1672475">
                <a:tc>
                  <a:txBody>
                    <a:bodyPr/>
                    <a:lstStyle/>
                    <a:p>
                      <a:pPr indent="0" lvl="0" marL="0" marR="0" rtl="0" algn="ctr">
                        <a:spcBef>
                          <a:spcPts val="0"/>
                        </a:spcBef>
                        <a:spcAft>
                          <a:spcPts val="0"/>
                        </a:spcAft>
                        <a:buNone/>
                      </a:pPr>
                      <a:r>
                        <a:rPr lang="en-US" sz="1200">
                          <a:latin typeface="Times New Roman"/>
                          <a:ea typeface="Times New Roman"/>
                          <a:cs typeface="Times New Roman"/>
                          <a:sym typeface="Times New Roman"/>
                        </a:rPr>
                        <a:t>7</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Xu et al.</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i="1" lang="en-US" sz="1200">
                          <a:latin typeface="Times New Roman"/>
                          <a:ea typeface="Times New Roman"/>
                          <a:cs typeface="Times New Roman"/>
                          <a:sym typeface="Times New Roman"/>
                        </a:rPr>
                        <a:t>Hallucination is Inevitable</a:t>
                      </a:r>
                      <a:endParaRPr i="1"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ArXiv</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2024</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0"/>
                        </a:spcBef>
                        <a:spcAft>
                          <a:spcPts val="0"/>
                        </a:spcAft>
                        <a:buSzPts val="1100"/>
                        <a:buNone/>
                      </a:pPr>
                      <a:r>
                        <a:rPr lang="en-US" sz="1200">
                          <a:latin typeface="Times New Roman"/>
                          <a:ea typeface="Times New Roman"/>
                          <a:cs typeface="Times New Roman"/>
                          <a:sym typeface="Times New Roman"/>
                        </a:rPr>
                        <a:t>Theoretical proof using learning theory &amp; diagonalization. Defines a formal world with computable LLMs </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Proves hallucination is mathematically inevitable for any computable LLM, regardless of architecture or training data. Identifies hallucination-prone problem classes </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Analysis is theoretical; doesn't quantify real-world hallucination rates. Assumes deterministic ground truth, limiting probabilistic insights. Focuses on inherent limits,</a:t>
                      </a:r>
                      <a:endParaRPr sz="1200">
                        <a:latin typeface="Times New Roman"/>
                        <a:ea typeface="Times New Roman"/>
                        <a:cs typeface="Times New Roman"/>
                        <a:sym typeface="Times New Roman"/>
                      </a:endParaRPr>
                    </a:p>
                    <a:p>
                      <a:pPr indent="-95250" lvl="0" marL="171450" marR="0" rtl="0" algn="l">
                        <a:spcBef>
                          <a:spcPts val="0"/>
                        </a:spcBef>
                        <a:spcAft>
                          <a:spcPts val="0"/>
                        </a:spcAft>
                        <a:buClr>
                          <a:schemeClr val="dk1"/>
                        </a:buClr>
                        <a:buSzPts val="1200"/>
                        <a:buFont typeface="Arial"/>
                        <a:buNone/>
                      </a:pPr>
                      <a:r>
                        <a:t/>
                      </a:r>
                      <a:endParaRPr sz="1200">
                        <a:latin typeface="Times New Roman"/>
                        <a:ea typeface="Times New Roman"/>
                        <a:cs typeface="Times New Roman"/>
                        <a:sym typeface="Times New Roman"/>
                      </a:endParaRPr>
                    </a:p>
                  </a:txBody>
                  <a:tcPr marT="45725" marB="45725" marR="91450" marL="91450">
                    <a:solidFill>
                      <a:srgbClr val="D5D59B"/>
                    </a:solidFill>
                  </a:tcPr>
                </a:tc>
              </a:tr>
              <a:tr h="1672475">
                <a:tc>
                  <a:txBody>
                    <a:bodyPr/>
                    <a:lstStyle/>
                    <a:p>
                      <a:pPr indent="0" lvl="0" marL="0" marR="0" rtl="0" algn="ctr">
                        <a:spcBef>
                          <a:spcPts val="0"/>
                        </a:spcBef>
                        <a:spcAft>
                          <a:spcPts val="0"/>
                        </a:spcAft>
                        <a:buNone/>
                      </a:pPr>
                      <a:r>
                        <a:rPr lang="en-US" sz="1200">
                          <a:latin typeface="Times New Roman"/>
                          <a:ea typeface="Times New Roman"/>
                          <a:cs typeface="Times New Roman"/>
                          <a:sym typeface="Times New Roman"/>
                        </a:rPr>
                        <a:t>8</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Maleki et al.</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i="1" lang="en-US" sz="1200">
                          <a:latin typeface="Times New Roman"/>
                          <a:ea typeface="Times New Roman"/>
                          <a:cs typeface="Times New Roman"/>
                          <a:sym typeface="Times New Roman"/>
                        </a:rPr>
                        <a:t>AI Hallucinations: A Misnomer Worth Clarifying</a:t>
                      </a:r>
                      <a:endParaRPr i="1"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Preprint (e.g., ArXiv)</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2024</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SzPts val="1100"/>
                        <a:buNone/>
                      </a:pPr>
                      <a:r>
                        <a:rPr lang="en-US" sz="1200">
                          <a:latin typeface="Times New Roman"/>
                          <a:ea typeface="Times New Roman"/>
                          <a:cs typeface="Times New Roman"/>
                          <a:sym typeface="Times New Roman"/>
                        </a:rPr>
                        <a:t>Systematic review of 14 databases from 2013–2023. Manually extracted and analyzed 333 definitions of "AI hallucination."</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Highlights inconsistent and often contradictory definitions across domains. Suggests alternative terms (e.g., fabrication, stochastic parroting). Calls for more precision</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Manual review may miss newer definitions. Focuses on terminology, not technical solutions. Limited to English-language papers. Does not propose a unified taxonomy.</a:t>
                      </a:r>
                      <a:endParaRPr sz="1200">
                        <a:latin typeface="Times New Roman"/>
                        <a:ea typeface="Times New Roman"/>
                        <a:cs typeface="Times New Roman"/>
                        <a:sym typeface="Times New Roman"/>
                      </a:endParaRPr>
                    </a:p>
                    <a:p>
                      <a:pPr indent="-95250" lvl="0" marL="171450" marR="0" rtl="0" algn="l">
                        <a:spcBef>
                          <a:spcPts val="0"/>
                        </a:spcBef>
                        <a:spcAft>
                          <a:spcPts val="0"/>
                        </a:spcAft>
                        <a:buClr>
                          <a:schemeClr val="dk1"/>
                        </a:buClr>
                        <a:buSzPts val="1200"/>
                        <a:buFont typeface="Arial"/>
                        <a:buNone/>
                      </a:pPr>
                      <a:r>
                        <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r>
              <a:tr h="1583625">
                <a:tc>
                  <a:txBody>
                    <a:bodyPr/>
                    <a:lstStyle/>
                    <a:p>
                      <a:pPr indent="0" lvl="0" marL="0" marR="0" rtl="0" algn="ctr">
                        <a:spcBef>
                          <a:spcPts val="0"/>
                        </a:spcBef>
                        <a:spcAft>
                          <a:spcPts val="0"/>
                        </a:spcAft>
                        <a:buNone/>
                      </a:pPr>
                      <a:r>
                        <a:rPr lang="en-US" sz="1200">
                          <a:latin typeface="Times New Roman"/>
                          <a:ea typeface="Times New Roman"/>
                          <a:cs typeface="Times New Roman"/>
                          <a:sym typeface="Times New Roman"/>
                        </a:rPr>
                        <a:t>9</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solidFill>
                      <a:srgbClr val="D5D59B"/>
                    </a:solidFill>
                  </a:tcPr>
                </a:tc>
                <a:tc>
                  <a:txBody>
                    <a:bodyPr/>
                    <a:lstStyle/>
                    <a:p>
                      <a:pPr indent="0" lvl="0" marL="0" rtl="0" algn="just">
                        <a:spcBef>
                          <a:spcPts val="0"/>
                        </a:spcBef>
                        <a:spcAft>
                          <a:spcPts val="0"/>
                        </a:spcAft>
                        <a:buSzPts val="1100"/>
                        <a:buNone/>
                      </a:pPr>
                      <a:r>
                        <a:rPr lang="en-US" sz="1200">
                          <a:latin typeface="Times New Roman"/>
                          <a:ea typeface="Times New Roman"/>
                          <a:cs typeface="Times New Roman"/>
                          <a:sym typeface="Times New Roman"/>
                        </a:rPr>
                        <a:t>Pranab Sahoo et al.</a:t>
                      </a:r>
                      <a:endParaRPr sz="1200">
                        <a:latin typeface="Times New Roman"/>
                        <a:ea typeface="Times New Roman"/>
                        <a:cs typeface="Times New Roman"/>
                        <a:sym typeface="Times New Roman"/>
                      </a:endParaRPr>
                    </a:p>
                    <a:p>
                      <a:pPr indent="0" lvl="0" marL="0" marR="0" rtl="0" algn="just">
                        <a:spcBef>
                          <a:spcPts val="0"/>
                        </a:spcBef>
                        <a:spcAft>
                          <a:spcPts val="0"/>
                        </a:spcAft>
                        <a:buNone/>
                      </a:pPr>
                      <a:r>
                        <a:rPr lang="en-US" sz="1200">
                          <a:latin typeface="Times New Roman"/>
                          <a:ea typeface="Times New Roman"/>
                          <a:cs typeface="Times New Roman"/>
                          <a:sym typeface="Times New Roman"/>
                        </a:rPr>
                        <a:t>A Comprehensive Survey of Hallucination in Large Language, Image, Video and Audio Foundation Models</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marR="0" rtl="0" algn="just">
                        <a:spcBef>
                          <a:spcPts val="0"/>
                        </a:spcBef>
                        <a:spcAft>
                          <a:spcPts val="0"/>
                        </a:spcAft>
                        <a:buNone/>
                      </a:pPr>
                      <a:r>
                        <a:rPr lang="en-US" sz="1200">
                          <a:latin typeface="Times New Roman"/>
                          <a:ea typeface="Times New Roman"/>
                          <a:cs typeface="Times New Roman"/>
                          <a:sym typeface="Times New Roman"/>
                        </a:rPr>
                        <a:t>arXiv Preprint (2024)</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b="1" lang="en-US" sz="1200">
                          <a:latin typeface="Times New Roman"/>
                          <a:ea typeface="Times New Roman"/>
                          <a:cs typeface="Times New Roman"/>
                          <a:sym typeface="Times New Roman"/>
                        </a:rPr>
                        <a:t>Technique:</a:t>
                      </a:r>
                      <a:r>
                        <a:rPr lang="en-US" sz="1200">
                          <a:latin typeface="Times New Roman"/>
                          <a:ea typeface="Times New Roman"/>
                          <a:cs typeface="Times New Roman"/>
                          <a:sym typeface="Times New Roman"/>
                        </a:rPr>
                        <a:t> Systematic taxonomy and review of detection/mitigation strategies.</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SzPts val="1100"/>
                        <a:buNone/>
                      </a:pPr>
                      <a:r>
                        <a:rPr lang="en-US" sz="1200">
                          <a:latin typeface="Times New Roman"/>
                          <a:ea typeface="Times New Roman"/>
                          <a:cs typeface="Times New Roman"/>
                          <a:sym typeface="Times New Roman"/>
                        </a:rPr>
                        <a:t>Provides a unified framework and synthesizes detection/mitigation strategies.</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Scope is broad, not deep. Cuts off at May 2024, missing recent works.</a:t>
                      </a:r>
                      <a:endParaRPr sz="1200">
                        <a:latin typeface="Times New Roman"/>
                        <a:ea typeface="Times New Roman"/>
                        <a:cs typeface="Times New Roman"/>
                        <a:sym typeface="Times New Roman"/>
                      </a:endParaRPr>
                    </a:p>
                    <a:p>
                      <a:pPr indent="-95250" lvl="0" marL="171450" marR="0" rtl="0" algn="just">
                        <a:spcBef>
                          <a:spcPts val="0"/>
                        </a:spcBef>
                        <a:spcAft>
                          <a:spcPts val="0"/>
                        </a:spcAft>
                        <a:buClr>
                          <a:schemeClr val="dk1"/>
                        </a:buClr>
                        <a:buSzPts val="1200"/>
                        <a:buFont typeface="Arial"/>
                        <a:buNone/>
                      </a:pPr>
                      <a:r>
                        <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Literature Review (cont…)</a:t>
            </a:r>
            <a:endParaRPr b="0"/>
          </a:p>
        </p:txBody>
      </p:sp>
      <p:sp>
        <p:nvSpPr>
          <p:cNvPr id="101" name="Google Shape;101;p9"/>
          <p:cNvSpPr txBox="1"/>
          <p:nvPr/>
        </p:nvSpPr>
        <p:spPr>
          <a:xfrm>
            <a:off x="254793" y="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02" name="Google Shape;102;p9"/>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8950"/>
                <a:gridCol w="1782000"/>
                <a:gridCol w="1483325"/>
                <a:gridCol w="1438725"/>
                <a:gridCol w="1851375"/>
                <a:gridCol w="1929450"/>
              </a:tblGrid>
              <a:tr h="743750">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lnB cap="flat" cmpd="sng" w="9525">
                      <a:solidFill>
                        <a:srgbClr val="9A9A9A"/>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lnB cap="flat" cmpd="sng" w="9525">
                      <a:solidFill>
                        <a:srgbClr val="9A9A9A"/>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lnB cap="flat" cmpd="sng" w="9525">
                      <a:solidFill>
                        <a:srgbClr val="9A9A9A"/>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lnB cap="flat" cmpd="sng" w="9525">
                      <a:solidFill>
                        <a:srgbClr val="9A9A9A"/>
                      </a:solidFill>
                      <a:prstDash val="solid"/>
                      <a:round/>
                      <a:headEnd len="sm" w="sm" type="none"/>
                      <a:tailEnd len="sm" w="sm" type="none"/>
                    </a:lnB>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lnB cap="flat" cmpd="sng" w="9525">
                      <a:solidFill>
                        <a:srgbClr val="9A9A9A"/>
                      </a:solidFill>
                      <a:prstDash val="solid"/>
                      <a:round/>
                      <a:headEnd len="sm" w="sm" type="none"/>
                      <a:tailEnd len="sm" w="sm" type="none"/>
                    </a:lnB>
                    <a:solidFill>
                      <a:srgbClr val="606029"/>
                    </a:solidFill>
                  </a:tcPr>
                </a:tc>
              </a:tr>
              <a:tr h="176737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0</a:t>
                      </a:r>
                      <a:r>
                        <a:rPr i="0" lang="en-US" sz="1200">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45725" marB="45725" marR="91450" marL="91450">
                    <a:lnR cap="flat" cmpd="sng" w="9525">
                      <a:solidFill>
                        <a:srgbClr val="9A9A9A"/>
                      </a:solidFill>
                      <a:prstDash val="solid"/>
                      <a:round/>
                      <a:headEnd len="sm" w="sm" type="none"/>
                      <a:tailEnd len="sm" w="sm" type="none"/>
                    </a:lnR>
                    <a:solidFill>
                      <a:srgbClr val="D5D59B"/>
                    </a:solidFill>
                  </a:tcPr>
                </a:tc>
                <a:tc>
                  <a:txBody>
                    <a:bodyPr/>
                    <a:lstStyle/>
                    <a:p>
                      <a:pPr indent="0" lvl="0" marL="0" rtl="0" algn="l">
                        <a:lnSpc>
                          <a:spcPct val="115000"/>
                        </a:lnSpc>
                        <a:spcBef>
                          <a:spcPts val="0"/>
                        </a:spcBef>
                        <a:spcAft>
                          <a:spcPts val="0"/>
                        </a:spcAft>
                        <a:buNone/>
                      </a:pPr>
                      <a:r>
                        <a:rPr b="1" lang="en-US" sz="1050">
                          <a:latin typeface="Times New Roman"/>
                          <a:ea typeface="Times New Roman"/>
                          <a:cs typeface="Times New Roman"/>
                          <a:sym typeface="Times New Roman"/>
                        </a:rPr>
                        <a:t>Chuang et al.</a:t>
                      </a:r>
                      <a:endParaRPr b="1" sz="105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i="1" lang="en-US" sz="1050">
                          <a:latin typeface="Times New Roman"/>
                          <a:ea typeface="Times New Roman"/>
                          <a:cs typeface="Times New Roman"/>
                          <a:sym typeface="Times New Roman"/>
                        </a:rPr>
                        <a:t>Lookback Lens</a:t>
                      </a:r>
                      <a:endParaRPr i="1" sz="1050">
                        <a:latin typeface="Times New Roman"/>
                        <a:ea typeface="Times New Roman"/>
                        <a:cs typeface="Times New Roman"/>
                        <a:sym typeface="Times New Roman"/>
                      </a:endParaRPr>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050">
                          <a:latin typeface="Times New Roman"/>
                          <a:ea typeface="Times New Roman"/>
                          <a:cs typeface="Times New Roman"/>
                          <a:sym typeface="Times New Roman"/>
                        </a:rPr>
                        <a:t>Not Specified (2024)</a:t>
                      </a:r>
                      <a:endParaRPr sz="1050">
                        <a:latin typeface="Times New Roman"/>
                        <a:ea typeface="Times New Roman"/>
                        <a:cs typeface="Times New Roman"/>
                        <a:sym typeface="Times New Roman"/>
                      </a:endParaRPr>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b="1" lang="en-US" sz="1050">
                          <a:latin typeface="Times New Roman"/>
                          <a:ea typeface="Times New Roman"/>
                          <a:cs typeface="Times New Roman"/>
                          <a:sym typeface="Times New Roman"/>
                        </a:rPr>
                        <a:t>Technique:</a:t>
                      </a:r>
                      <a:r>
                        <a:rPr lang="en-US" sz="1050">
                          <a:latin typeface="Times New Roman"/>
                          <a:ea typeface="Times New Roman"/>
                          <a:cs typeface="Times New Roman"/>
                          <a:sym typeface="Times New Roman"/>
                        </a:rPr>
                        <a:t> Lookback Ratio (attention weight analysis), Linear Classifier, Guided Decoding.</a:t>
                      </a:r>
                      <a:endParaRPr sz="105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050">
                          <a:latin typeface="Times New Roman"/>
                          <a:ea typeface="Times New Roman"/>
                          <a:cs typeface="Times New Roman"/>
                          <a:sym typeface="Times New Roman"/>
                        </a:rPr>
                        <a:t>Models:</a:t>
                      </a:r>
                      <a:r>
                        <a:rPr lang="en-US" sz="1050">
                          <a:latin typeface="Times New Roman"/>
                          <a:ea typeface="Times New Roman"/>
                          <a:cs typeface="Times New Roman"/>
                          <a:sym typeface="Times New Roman"/>
                        </a:rPr>
                        <a:t> LLaMA-2-7B/13B-Chat.</a:t>
                      </a:r>
                      <a:endParaRPr sz="105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050">
                          <a:latin typeface="Times New Roman"/>
                          <a:ea typeface="Times New Roman"/>
                          <a:cs typeface="Times New Roman"/>
                          <a:sym typeface="Times New Roman"/>
                        </a:rPr>
                        <a:t>Datasets:</a:t>
                      </a:r>
                      <a:r>
                        <a:rPr lang="en-US" sz="1050">
                          <a:latin typeface="Times New Roman"/>
                          <a:ea typeface="Times New Roman"/>
                          <a:cs typeface="Times New Roman"/>
                          <a:sym typeface="Times New Roman"/>
                        </a:rPr>
                        <a:t> CNN/DM, XSum, NQ, MT-Bench.</a:t>
                      </a:r>
                      <a:endParaRPr sz="1050">
                        <a:latin typeface="Times New Roman"/>
                        <a:ea typeface="Times New Roman"/>
                        <a:cs typeface="Times New Roman"/>
                        <a:sym typeface="Times New Roman"/>
                      </a:endParaRPr>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050">
                          <a:latin typeface="Times New Roman"/>
                          <a:ea typeface="Times New Roman"/>
                          <a:cs typeface="Times New Roman"/>
                          <a:sym typeface="Times New Roman"/>
                        </a:rPr>
                        <a:t>The Lookback Ratio detector matches the performance of complex hidden-state models. It reduces contextual hallucinations by 9.6% in summarization and transfers across tasks and model sizes without retraining.</a:t>
                      </a:r>
                      <a:endParaRPr sz="1050">
                        <a:latin typeface="Times New Roman"/>
                        <a:ea typeface="Times New Roman"/>
                        <a:cs typeface="Times New Roman"/>
                        <a:sym typeface="Times New Roman"/>
                      </a:endParaRPr>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solidFill>
                      <a:srgbClr val="D5D59B"/>
                    </a:solidFill>
                  </a:tcPr>
                </a:tc>
                <a:tc>
                  <a:txBody>
                    <a:bodyPr/>
                    <a:lstStyle/>
                    <a:p>
                      <a:pPr indent="0" lvl="0" marL="0" rtl="0" algn="l">
                        <a:lnSpc>
                          <a:spcPct val="115000"/>
                        </a:lnSpc>
                        <a:spcBef>
                          <a:spcPts val="0"/>
                        </a:spcBef>
                        <a:spcAft>
                          <a:spcPts val="0"/>
                        </a:spcAft>
                        <a:buNone/>
                      </a:pPr>
                      <a:r>
                        <a:rPr lang="en-US" sz="1050">
                          <a:latin typeface="Times New Roman"/>
                          <a:ea typeface="Times New Roman"/>
                          <a:cs typeface="Times New Roman"/>
                          <a:sym typeface="Times New Roman"/>
                        </a:rPr>
                        <a:t>The method's upper bound is constrained by the LLM's sampling capability. Sampling multiple candidates increases total inference time. The classifier requires 1,000-2,500 annotated examples for training.</a:t>
                      </a:r>
                      <a:endParaRPr sz="1050">
                        <a:latin typeface="Times New Roman"/>
                        <a:ea typeface="Times New Roman"/>
                        <a:cs typeface="Times New Roman"/>
                        <a:sym typeface="Times New Roman"/>
                      </a:endParaRPr>
                    </a:p>
                  </a:txBody>
                  <a:tcPr marT="9525" marB="9525" marR="47625" marL="47625">
                    <a:lnL cap="flat" cmpd="sng" w="9525">
                      <a:solidFill>
                        <a:srgbClr val="9A9A9A"/>
                      </a:solidFill>
                      <a:prstDash val="solid"/>
                      <a:round/>
                      <a:headEnd len="sm" w="sm" type="none"/>
                      <a:tailEnd len="sm" w="sm" type="none"/>
                    </a:lnL>
                    <a:lnR cap="flat" cmpd="sng" w="9525">
                      <a:solidFill>
                        <a:srgbClr val="9A9A9A"/>
                      </a:solidFill>
                      <a:prstDash val="solid"/>
                      <a:round/>
                      <a:headEnd len="sm" w="sm" type="none"/>
                      <a:tailEnd len="sm" w="sm" type="none"/>
                    </a:lnR>
                    <a:lnT cap="flat" cmpd="sng" w="9525">
                      <a:solidFill>
                        <a:srgbClr val="9A9A9A"/>
                      </a:solidFill>
                      <a:prstDash val="solid"/>
                      <a:round/>
                      <a:headEnd len="sm" w="sm" type="none"/>
                      <a:tailEnd len="sm" w="sm" type="none"/>
                    </a:lnT>
                    <a:lnB cap="flat" cmpd="sng" w="9525">
                      <a:solidFill>
                        <a:srgbClr val="9A9A9A"/>
                      </a:solidFill>
                      <a:prstDash val="solid"/>
                      <a:round/>
                      <a:headEnd len="sm" w="sm" type="none"/>
                      <a:tailEnd len="sm" w="sm" type="none"/>
                    </a:lnB>
                    <a:solidFill>
                      <a:srgbClr val="D5D59B"/>
                    </a:solidFill>
                  </a:tcPr>
                </a:tc>
              </a:tr>
              <a:tr h="1530650">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1</a:t>
                      </a:r>
                      <a:r>
                        <a:rPr i="0" lang="en-US" sz="1200">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45725" marB="45725" marR="91450" marL="91450">
                    <a:lnR cap="flat" cmpd="sng" w="12700">
                      <a:solidFill>
                        <a:schemeClr val="lt1"/>
                      </a:solidFill>
                      <a:prstDash val="solid"/>
                      <a:round/>
                      <a:headEnd len="sm" w="sm" type="none"/>
                      <a:tailEnd len="sm" w="sm" type="none"/>
                    </a:lnR>
                    <a:solidFill>
                      <a:srgbClr val="F0F0DD"/>
                    </a:solidFill>
                  </a:tcPr>
                </a:tc>
                <a:tc>
                  <a:txBody>
                    <a:bodyPr/>
                    <a:lstStyle/>
                    <a:p>
                      <a:pPr indent="0" lvl="0" marL="0" rtl="0" algn="l">
                        <a:spcBef>
                          <a:spcPts val="0"/>
                        </a:spcBef>
                        <a:spcAft>
                          <a:spcPts val="0"/>
                        </a:spcAft>
                        <a:buNone/>
                      </a:pPr>
                      <a:r>
                        <a:rPr lang="en-US" sz="1050">
                          <a:latin typeface="Times New Roman"/>
                          <a:ea typeface="Times New Roman"/>
                          <a:cs typeface="Times New Roman"/>
                          <a:sym typeface="Times New Roman"/>
                        </a:rPr>
                        <a:t>Cheng Niu1 et al.</a:t>
                      </a:r>
                      <a:endParaRPr sz="1050">
                        <a:latin typeface="Times New Roman"/>
                        <a:ea typeface="Times New Roman"/>
                        <a:cs typeface="Times New Roman"/>
                        <a:sym typeface="Times New Roman"/>
                      </a:endParaRPr>
                    </a:p>
                    <a:p>
                      <a:pPr indent="0" lvl="0" marL="0" rtl="0" algn="l">
                        <a:spcBef>
                          <a:spcPts val="0"/>
                        </a:spcBef>
                        <a:spcAft>
                          <a:spcPts val="0"/>
                        </a:spcAft>
                        <a:buNone/>
                      </a:pPr>
                      <a:r>
                        <a:rPr lang="en-US" sz="1050">
                          <a:latin typeface="Times New Roman"/>
                          <a:ea typeface="Times New Roman"/>
                          <a:cs typeface="Times New Roman"/>
                          <a:sym typeface="Times New Roman"/>
                        </a:rPr>
                        <a:t>RAGTruth: A Hallucination Corpus for Developing Trustworthy Retrieval-Augmented Language Models</a:t>
                      </a:r>
                      <a:endParaRPr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9A9A9A"/>
                      </a:solidFill>
                      <a:prstDash val="solid"/>
                      <a:round/>
                      <a:headEnd len="sm" w="sm" type="none"/>
                      <a:tailEnd len="sm" w="sm" type="none"/>
                    </a:lnT>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050">
                          <a:latin typeface="Times New Roman"/>
                          <a:ea typeface="Times New Roman"/>
                          <a:cs typeface="Times New Roman"/>
                          <a:sym typeface="Times New Roman"/>
                        </a:rPr>
                        <a:t>arXiv Preprint 2024</a:t>
                      </a:r>
                      <a:endParaRPr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9A9A9A"/>
                      </a:solidFill>
                      <a:prstDash val="solid"/>
                      <a:round/>
                      <a:headEnd len="sm" w="sm" type="none"/>
                      <a:tailEnd len="sm" w="sm" type="none"/>
                    </a:lnT>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050">
                          <a:latin typeface="Times New Roman"/>
                          <a:ea typeface="Times New Roman"/>
                          <a:cs typeface="Times New Roman"/>
                          <a:sym typeface="Times New Roman"/>
                        </a:rPr>
                        <a:t>Used </a:t>
                      </a:r>
                      <a:r>
                        <a:rPr b="1" lang="en-US" sz="1050">
                          <a:latin typeface="Times New Roman"/>
                          <a:ea typeface="Times New Roman"/>
                          <a:cs typeface="Times New Roman"/>
                          <a:sym typeface="Times New Roman"/>
                        </a:rPr>
                        <a:t>GPT-3.5, GPT-4, Llama-2, Mistral-7B</a:t>
                      </a:r>
                      <a:r>
                        <a:rPr lang="en-US" sz="1050">
                          <a:latin typeface="Times New Roman"/>
                          <a:ea typeface="Times New Roman"/>
                          <a:cs typeface="Times New Roman"/>
                          <a:sym typeface="Times New Roman"/>
                        </a:rPr>
                        <a:t> to generate responses,</a:t>
                      </a:r>
                      <a:endParaRPr sz="1050">
                        <a:latin typeface="Times New Roman"/>
                        <a:ea typeface="Times New Roman"/>
                        <a:cs typeface="Times New Roman"/>
                        <a:sym typeface="Times New Roman"/>
                      </a:endParaRPr>
                    </a:p>
                    <a:p>
                      <a:pPr indent="0" lvl="0" marL="0" rtl="0" algn="l">
                        <a:spcBef>
                          <a:spcPts val="0"/>
                        </a:spcBef>
                        <a:spcAft>
                          <a:spcPts val="0"/>
                        </a:spcAft>
                        <a:buNone/>
                      </a:pPr>
                      <a:r>
                        <a:rPr lang="en-US" sz="1050">
                          <a:latin typeface="Times New Roman"/>
                          <a:ea typeface="Times New Roman"/>
                          <a:cs typeface="Times New Roman"/>
                          <a:sym typeface="Times New Roman"/>
                        </a:rPr>
                        <a:t>Detection methods: </a:t>
                      </a:r>
                      <a:r>
                        <a:rPr b="1" lang="en-US" sz="1050">
                          <a:latin typeface="Times New Roman"/>
                          <a:ea typeface="Times New Roman"/>
                          <a:cs typeface="Times New Roman"/>
                          <a:sym typeface="Times New Roman"/>
                        </a:rPr>
                        <a:t>Prompt-based (GPT), SelfCheckGPT, LMvLM, Fine-tuned Llama-2-13B, Data set RAGTruth</a:t>
                      </a:r>
                      <a:endParaRPr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9A9A9A"/>
                      </a:solidFill>
                      <a:prstDash val="solid"/>
                      <a:round/>
                      <a:headEnd len="sm" w="sm" type="none"/>
                      <a:tailEnd len="sm" w="sm" type="none"/>
                    </a:lnT>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050">
                          <a:latin typeface="Times New Roman"/>
                          <a:ea typeface="Times New Roman"/>
                          <a:cs typeface="Times New Roman"/>
                          <a:sym typeface="Times New Roman"/>
                        </a:rPr>
                        <a:t>Data-to-text had the most hallucinations (68%); GPT-4 the least, Mistral-7B the most. Fine-tuned Llama-2-13B reached 78.7% F1 and cut hallucinations by 50–63%</a:t>
                      </a:r>
                      <a:endParaRPr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9A9A9A"/>
                      </a:solidFill>
                      <a:prstDash val="solid"/>
                      <a:round/>
                      <a:headEnd len="sm" w="sm" type="none"/>
                      <a:tailEnd len="sm" w="sm" type="none"/>
                    </a:lnT>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Clr>
                          <a:schemeClr val="dk1"/>
                        </a:buClr>
                        <a:buSzPts val="1100"/>
                        <a:buFont typeface="Arial"/>
                        <a:buNone/>
                      </a:pPr>
                      <a:r>
                        <a:rPr b="1" lang="en-US" sz="1050">
                          <a:latin typeface="Times New Roman"/>
                          <a:ea typeface="Times New Roman"/>
                          <a:cs typeface="Times New Roman"/>
                          <a:sym typeface="Times New Roman"/>
                        </a:rPr>
                        <a:t>Limitations:</a:t>
                      </a:r>
                      <a:r>
                        <a:rPr lang="en-US" sz="1050">
                          <a:latin typeface="Times New Roman"/>
                          <a:ea typeface="Times New Roman"/>
                          <a:cs typeface="Times New Roman"/>
                          <a:sym typeface="Times New Roman"/>
                        </a:rPr>
                        <a:t> Focused only on RAG and three tasks, span-level detection weak, annotations subjective, results may not generalize.</a:t>
                      </a:r>
                      <a:endParaRPr sz="1050">
                        <a:latin typeface="Times New Roman"/>
                        <a:ea typeface="Times New Roman"/>
                        <a:cs typeface="Times New Roman"/>
                        <a:sym typeface="Times New Roman"/>
                      </a:endParaRPr>
                    </a:p>
                    <a:p>
                      <a:pPr indent="0" lvl="0" marL="0" rtl="0" algn="l">
                        <a:spcBef>
                          <a:spcPts val="0"/>
                        </a:spcBef>
                        <a:spcAft>
                          <a:spcPts val="0"/>
                        </a:spcAft>
                        <a:buNone/>
                      </a:pPr>
                      <a:r>
                        <a:rPr b="1" lang="en-US" sz="1050">
                          <a:latin typeface="Times New Roman"/>
                          <a:ea typeface="Times New Roman"/>
                          <a:cs typeface="Times New Roman"/>
                          <a:sym typeface="Times New Roman"/>
                        </a:rPr>
                        <a:t>Gaps:</a:t>
                      </a:r>
                      <a:r>
                        <a:rPr lang="en-US" sz="1050">
                          <a:latin typeface="Times New Roman"/>
                          <a:ea typeface="Times New Roman"/>
                          <a:cs typeface="Times New Roman"/>
                          <a:sym typeface="Times New Roman"/>
                        </a:rPr>
                        <a:t> Need bigger diverse datasets, better subtle hallucination handling, cross-task/multilingual tests</a:t>
                      </a:r>
                      <a:endParaRPr sz="105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9A9A9A"/>
                      </a:solidFill>
                      <a:prstDash val="solid"/>
                      <a:round/>
                      <a:headEnd len="sm" w="sm" type="none"/>
                      <a:tailEnd len="sm" w="sm" type="none"/>
                    </a:lnT>
                    <a:lnB cap="flat" cmpd="sng" w="38100">
                      <a:solidFill>
                        <a:schemeClr val="lt1"/>
                      </a:solidFill>
                      <a:prstDash val="solid"/>
                      <a:round/>
                      <a:headEnd len="sm" w="sm" type="none"/>
                      <a:tailEnd len="sm" w="sm" type="none"/>
                    </a:lnB>
                    <a:solidFill>
                      <a:srgbClr val="F0F0DD"/>
                    </a:solidFill>
                  </a:tcPr>
                </a:tc>
              </a:tr>
              <a:tr h="14479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2</a:t>
                      </a:r>
                      <a:r>
                        <a:rPr i="0" lang="en-US" sz="1200">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050">
                          <a:latin typeface="Times New Roman"/>
                          <a:ea typeface="Times New Roman"/>
                          <a:cs typeface="Times New Roman"/>
                          <a:sym typeface="Times New Roman"/>
                        </a:rPr>
                        <a:t>Junyang Wang et al.</a:t>
                      </a:r>
                      <a:endParaRPr sz="1050">
                        <a:latin typeface="Times New Roman"/>
                        <a:ea typeface="Times New Roman"/>
                        <a:cs typeface="Times New Roman"/>
                        <a:sym typeface="Times New Roman"/>
                      </a:endParaRPr>
                    </a:p>
                    <a:p>
                      <a:pPr indent="0" lvl="0" marL="0" marR="0" rtl="0" algn="l">
                        <a:spcBef>
                          <a:spcPts val="0"/>
                        </a:spcBef>
                        <a:spcAft>
                          <a:spcPts val="0"/>
                        </a:spcAft>
                        <a:buNone/>
                      </a:pPr>
                      <a:r>
                        <a:rPr lang="en-US" sz="1050">
                          <a:latin typeface="Times New Roman"/>
                          <a:ea typeface="Times New Roman"/>
                          <a:cs typeface="Times New Roman"/>
                          <a:sym typeface="Times New Roman"/>
                        </a:rPr>
                        <a:t>AMBER: An LLM-free Multi-dimensional Benchmark for MLLMs Hallucination Evaluation</a:t>
                      </a:r>
                      <a:endParaRPr sz="1050">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solidFill>
                      <a:srgbClr val="D5D59B"/>
                    </a:solidFill>
                  </a:tcPr>
                </a:tc>
                <a:tc>
                  <a:txBody>
                    <a:bodyPr/>
                    <a:lstStyle/>
                    <a:p>
                      <a:pPr indent="0" lvl="0" marL="0" marR="0" rtl="0" algn="l">
                        <a:spcBef>
                          <a:spcPts val="0"/>
                        </a:spcBef>
                        <a:spcAft>
                          <a:spcPts val="0"/>
                        </a:spcAft>
                        <a:buNone/>
                      </a:pPr>
                      <a:r>
                        <a:rPr lang="en-US" sz="1050">
                          <a:latin typeface="Times New Roman"/>
                          <a:ea typeface="Times New Roman"/>
                          <a:cs typeface="Times New Roman"/>
                          <a:sym typeface="Times New Roman"/>
                        </a:rPr>
                        <a:t>arXiv Preprint 2024</a:t>
                      </a:r>
                      <a:endParaRPr i="0" sz="1050">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solidFill>
                      <a:srgbClr val="D5D59B"/>
                    </a:solidFill>
                  </a:tcPr>
                </a:tc>
                <a:tc>
                  <a:txBody>
                    <a:bodyPr/>
                    <a:lstStyle/>
                    <a:p>
                      <a:pPr indent="0" lvl="0" marL="0" marR="0" rtl="0" algn="l">
                        <a:spcBef>
                          <a:spcPts val="0"/>
                        </a:spcBef>
                        <a:spcAft>
                          <a:spcPts val="0"/>
                        </a:spcAft>
                        <a:buNone/>
                      </a:pPr>
                      <a:r>
                        <a:rPr lang="en-US" sz="1100">
                          <a:latin typeface="Times New Roman"/>
                          <a:ea typeface="Times New Roman"/>
                          <a:cs typeface="Times New Roman"/>
                          <a:sym typeface="Times New Roman"/>
                        </a:rPr>
                        <a:t>Proposed </a:t>
                      </a:r>
                      <a:r>
                        <a:rPr b="1" lang="en-US" sz="1100">
                          <a:latin typeface="Times New Roman"/>
                          <a:ea typeface="Times New Roman"/>
                          <a:cs typeface="Times New Roman"/>
                          <a:sym typeface="Times New Roman"/>
                        </a:rPr>
                        <a:t>AMBER</a:t>
                      </a:r>
                      <a:r>
                        <a:rPr lang="en-US" sz="1100">
                          <a:latin typeface="Times New Roman"/>
                          <a:ea typeface="Times New Roman"/>
                          <a:cs typeface="Times New Roman"/>
                          <a:sym typeface="Times New Roman"/>
                        </a:rPr>
                        <a:t>, an </a:t>
                      </a:r>
                      <a:r>
                        <a:rPr b="1" lang="en-US" sz="1100">
                          <a:latin typeface="Times New Roman"/>
                          <a:ea typeface="Times New Roman"/>
                          <a:cs typeface="Times New Roman"/>
                          <a:sym typeface="Times New Roman"/>
                        </a:rPr>
                        <a:t>LLM-free benchmark</a:t>
                      </a:r>
                      <a:r>
                        <a:rPr lang="en-US" sz="1100">
                          <a:latin typeface="Times New Roman"/>
                          <a:ea typeface="Times New Roman"/>
                          <a:cs typeface="Times New Roman"/>
                          <a:sym typeface="Times New Roman"/>
                        </a:rPr>
                        <a:t> for hallucination evaluation in Multi-modal LLMs (MLLMs), Dataset-</a:t>
                      </a:r>
                      <a:r>
                        <a:rPr b="1" lang="en-US" sz="1100">
                          <a:latin typeface="Times New Roman"/>
                          <a:ea typeface="Times New Roman"/>
                          <a:cs typeface="Times New Roman"/>
                          <a:sym typeface="Times New Roman"/>
                        </a:rPr>
                        <a:t>MS-COCO test set</a:t>
                      </a:r>
                      <a:endParaRPr i="0" sz="1050">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solidFill>
                      <a:srgbClr val="D5D59B"/>
                    </a:solidFill>
                  </a:tcPr>
                </a:tc>
                <a:tc>
                  <a:txBody>
                    <a:bodyPr/>
                    <a:lstStyle/>
                    <a:p>
                      <a:pPr indent="0" lvl="0" marL="0" marR="0" rtl="0" algn="l">
                        <a:spcBef>
                          <a:spcPts val="0"/>
                        </a:spcBef>
                        <a:spcAft>
                          <a:spcPts val="0"/>
                        </a:spcAft>
                        <a:buNone/>
                      </a:pPr>
                      <a:r>
                        <a:rPr lang="en-US" sz="1050">
                          <a:latin typeface="Times New Roman"/>
                          <a:ea typeface="Times New Roman"/>
                          <a:cs typeface="Times New Roman"/>
                          <a:sym typeface="Times New Roman"/>
                        </a:rPr>
                        <a:t>GPT-4V performed best with the least hallucinations and highest AMBER Score, followed by Qwen-VL and InstructBLIP. However, all models still showed hallucinations, especially in </a:t>
                      </a:r>
                      <a:r>
                        <a:rPr b="1" lang="en-US" sz="1050">
                          <a:latin typeface="Times New Roman"/>
                          <a:ea typeface="Times New Roman"/>
                          <a:cs typeface="Times New Roman"/>
                          <a:sym typeface="Times New Roman"/>
                        </a:rPr>
                        <a:t>attribute</a:t>
                      </a:r>
                      <a:r>
                        <a:rPr lang="en-US" sz="1050">
                          <a:latin typeface="Times New Roman"/>
                          <a:ea typeface="Times New Roman"/>
                          <a:cs typeface="Times New Roman"/>
                          <a:sym typeface="Times New Roman"/>
                        </a:rPr>
                        <a:t> and </a:t>
                      </a:r>
                      <a:r>
                        <a:rPr b="1" lang="en-US" sz="1050">
                          <a:latin typeface="Times New Roman"/>
                          <a:ea typeface="Times New Roman"/>
                          <a:cs typeface="Times New Roman"/>
                          <a:sym typeface="Times New Roman"/>
                        </a:rPr>
                        <a:t>relation</a:t>
                      </a:r>
                      <a:r>
                        <a:rPr lang="en-US" sz="1050">
                          <a:latin typeface="Times New Roman"/>
                          <a:ea typeface="Times New Roman"/>
                          <a:cs typeface="Times New Roman"/>
                          <a:sym typeface="Times New Roman"/>
                        </a:rPr>
                        <a:t> cases</a:t>
                      </a:r>
                      <a:endParaRPr i="0" sz="1050">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solidFill>
                      <a:srgbClr val="D5D59B"/>
                    </a:solidFill>
                  </a:tcPr>
                </a:tc>
                <a:tc>
                  <a:txBody>
                    <a:bodyPr/>
                    <a:lstStyle/>
                    <a:p>
                      <a:pPr indent="0" lvl="0" marL="76200" marR="0" rtl="0" algn="l">
                        <a:spcBef>
                          <a:spcPts val="0"/>
                        </a:spcBef>
                        <a:spcAft>
                          <a:spcPts val="0"/>
                        </a:spcAft>
                        <a:buClr>
                          <a:schemeClr val="dk1"/>
                        </a:buClr>
                        <a:buSzPts val="1200"/>
                        <a:buFont typeface="Arial"/>
                        <a:buNone/>
                      </a:pPr>
                      <a:r>
                        <a:rPr lang="en-US" sz="1050">
                          <a:latin typeface="Times New Roman"/>
                          <a:ea typeface="Times New Roman"/>
                          <a:cs typeface="Times New Roman"/>
                          <a:sym typeface="Times New Roman"/>
                        </a:rPr>
                        <a:t>AMBER only evaluates </a:t>
                      </a:r>
                      <a:r>
                        <a:rPr b="1" lang="en-US" sz="1050">
                          <a:latin typeface="Times New Roman"/>
                          <a:ea typeface="Times New Roman"/>
                          <a:cs typeface="Times New Roman"/>
                          <a:sym typeface="Times New Roman"/>
                        </a:rPr>
                        <a:t>attribute and relation hallucinations</a:t>
                      </a:r>
                      <a:r>
                        <a:rPr lang="en-US" sz="1050">
                          <a:latin typeface="Times New Roman"/>
                          <a:ea typeface="Times New Roman"/>
                          <a:cs typeface="Times New Roman"/>
                          <a:sym typeface="Times New Roman"/>
                        </a:rPr>
                        <a:t> in discriminative tasks, not generative ones. Object extraction errors may occur (e.g., “orange” as noun vs color)</a:t>
                      </a:r>
                      <a:endParaRPr i="0" sz="1050">
                        <a:latin typeface="Times New Roman"/>
                        <a:ea typeface="Times New Roman"/>
                        <a:cs typeface="Times New Roman"/>
                        <a:sym typeface="Times New Roman"/>
                      </a:endParaRPr>
                    </a:p>
                  </a:txBody>
                  <a:tcPr marT="45725" marB="45725" marR="91450" marL="91450">
                    <a:lnT cap="flat" cmpd="sng" w="38100">
                      <a:solidFill>
                        <a:schemeClr val="lt1"/>
                      </a:solidFill>
                      <a:prstDash val="solid"/>
                      <a:round/>
                      <a:headEnd len="sm" w="sm" type="none"/>
                      <a:tailEnd len="sm" w="sm" type="none"/>
                    </a:lnT>
                    <a:solidFill>
                      <a:srgbClr val="D5D59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0"/>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Literature Review (cont…)</a:t>
            </a:r>
            <a:endParaRPr b="0"/>
          </a:p>
        </p:txBody>
      </p:sp>
      <p:sp>
        <p:nvSpPr>
          <p:cNvPr id="108" name="Google Shape;108;p10"/>
          <p:cNvSpPr txBox="1"/>
          <p:nvPr/>
        </p:nvSpPr>
        <p:spPr>
          <a:xfrm>
            <a:off x="-7" y="72455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09" name="Google Shape;109;p10"/>
          <p:cNvGraphicFramePr/>
          <p:nvPr/>
        </p:nvGraphicFramePr>
        <p:xfrm>
          <a:off x="53143" y="787661"/>
          <a:ext cx="3000000" cy="3000000"/>
        </p:xfrm>
        <a:graphic>
          <a:graphicData uri="http://schemas.openxmlformats.org/drawingml/2006/table">
            <a:tbl>
              <a:tblPr bandRow="1" firstRow="1">
                <a:noFill/>
                <a:tableStyleId>{377F1409-8902-4A2D-BE7C-06FC4102EE46}</a:tableStyleId>
              </a:tblPr>
              <a:tblGrid>
                <a:gridCol w="549200"/>
                <a:gridCol w="1782750"/>
                <a:gridCol w="1483975"/>
                <a:gridCol w="1439350"/>
                <a:gridCol w="1852150"/>
                <a:gridCol w="1930275"/>
              </a:tblGrid>
              <a:tr h="704350">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161167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3</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Balaji Padmanabhan et al.</a:t>
                      </a:r>
                      <a:endParaRPr sz="1200">
                        <a:latin typeface="Times New Roman"/>
                        <a:ea typeface="Times New Roman"/>
                        <a:cs typeface="Times New Roman"/>
                        <a:sym typeface="Times New Roman"/>
                      </a:endParaRPr>
                    </a:p>
                    <a:p>
                      <a:pPr indent="0" lvl="0" marL="0" marR="0" rtl="0" algn="l">
                        <a:spcBef>
                          <a:spcPts val="0"/>
                        </a:spcBef>
                        <a:spcAft>
                          <a:spcPts val="0"/>
                        </a:spcAft>
                        <a:buNone/>
                      </a:pPr>
                      <a:r>
                        <a:rPr lang="en-US" sz="1200">
                          <a:latin typeface="Times New Roman"/>
                          <a:ea typeface="Times New Roman"/>
                          <a:cs typeface="Times New Roman"/>
                          <a:sym typeface="Times New Roman"/>
                        </a:rPr>
                        <a:t>AI Hallucinations: A Misnomer Worth Clarifying</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arXiv 2024</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Systematic literature review (14 databases, 333 papers), manual screening, categorization by domain</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No consistent definition of “AI hallucination”; term used inconsistently; alternatives like </a:t>
                      </a:r>
                      <a:r>
                        <a:rPr i="1" lang="en-US" sz="1200">
                          <a:latin typeface="Times New Roman"/>
                          <a:ea typeface="Times New Roman"/>
                          <a:cs typeface="Times New Roman"/>
                          <a:sym typeface="Times New Roman"/>
                        </a:rPr>
                        <a:t>confabulation, fabrication, misinformation</a:t>
                      </a:r>
                      <a:r>
                        <a:rPr lang="en-US" sz="1200">
                          <a:latin typeface="Times New Roman"/>
                          <a:ea typeface="Times New Roman"/>
                          <a:cs typeface="Times New Roman"/>
                          <a:sym typeface="Times New Roman"/>
                        </a:rPr>
                        <a:t>; </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Focus on definitions not solutions.Need  unified taxonomy, standardized non-stigmatizing terms</a:t>
                      </a:r>
                      <a:endParaRPr sz="1200">
                        <a:latin typeface="Times New Roman"/>
                        <a:ea typeface="Times New Roman"/>
                        <a:cs typeface="Times New Roman"/>
                        <a:sym typeface="Times New Roman"/>
                      </a:endParaRPr>
                    </a:p>
                    <a:p>
                      <a:pPr indent="-95250" lvl="0" marL="171450" marR="0" rtl="0" algn="l">
                        <a:spcBef>
                          <a:spcPts val="1200"/>
                        </a:spcBef>
                        <a:spcAft>
                          <a:spcPts val="0"/>
                        </a:spcAft>
                        <a:buClr>
                          <a:schemeClr val="dk1"/>
                        </a:buClr>
                        <a:buSzPts val="1200"/>
                        <a:buFont typeface="Arial"/>
                        <a:buNone/>
                      </a:pPr>
                      <a:r>
                        <a:t/>
                      </a:r>
                      <a:endParaRPr sz="1200">
                        <a:latin typeface="Times New Roman"/>
                        <a:ea typeface="Times New Roman"/>
                        <a:cs typeface="Times New Roman"/>
                        <a:sym typeface="Times New Roman"/>
                      </a:endParaRPr>
                    </a:p>
                  </a:txBody>
                  <a:tcPr marT="45725" marB="45725" marR="91450" marL="91450">
                    <a:solidFill>
                      <a:srgbClr val="D5D59B"/>
                    </a:solidFill>
                  </a:tcPr>
                </a:tc>
              </a:tr>
              <a:tr h="21492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4</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Varun Magesh et al.</a:t>
                      </a:r>
                      <a:endParaRPr sz="1200">
                        <a:latin typeface="Times New Roman"/>
                        <a:ea typeface="Times New Roman"/>
                        <a:cs typeface="Times New Roman"/>
                        <a:sym typeface="Times New Roman"/>
                      </a:endParaRPr>
                    </a:p>
                    <a:p>
                      <a:pPr indent="0" lvl="0" marL="0" marR="0" rtl="0" algn="l">
                        <a:spcBef>
                          <a:spcPts val="0"/>
                        </a:spcBef>
                        <a:spcAft>
                          <a:spcPts val="0"/>
                        </a:spcAft>
                        <a:buNone/>
                      </a:pPr>
                      <a:r>
                        <a:rPr lang="en-US" sz="1200">
                          <a:latin typeface="Times New Roman"/>
                          <a:ea typeface="Times New Roman"/>
                          <a:cs typeface="Times New Roman"/>
                          <a:sym typeface="Times New Roman"/>
                        </a:rPr>
                        <a:t>Hallucination-Free? Assessing the Reliability of Leading AI Legal Research Tools</a:t>
                      </a:r>
                      <a:endParaRPr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Journal of Empirical Legal Studies (2025)</a:t>
                      </a:r>
                      <a:endParaRPr i="0"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E</a:t>
                      </a:r>
                      <a:r>
                        <a:rPr lang="en-US" sz="1200">
                          <a:latin typeface="Times New Roman"/>
                          <a:ea typeface="Times New Roman"/>
                          <a:cs typeface="Times New Roman"/>
                          <a:sym typeface="Times New Roman"/>
                        </a:rPr>
                        <a:t>mpirical tests on Lexis+ AI, Westlaw, Practical Law AI, GPT-4 with 200+ legal queries, hand-coded evaluation.</a:t>
                      </a:r>
                      <a:endParaRPr i="0"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All still hallucinate (Lexis+ ~17%, Westlaw ~33%, Practical Law high incompleteness, GPT-4 worst); RAG helps but not a fix.</a:t>
                      </a:r>
                      <a:endParaRPr i="0" sz="12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 Proprietary black boxes, small dataset, US-law only, snapshot in time.Need bigger cross-jurisdiction studies, better benchmarks, lawyer-side mitigation, long-term ethical analysis.</a:t>
                      </a:r>
                      <a:endParaRPr sz="1200">
                        <a:latin typeface="Times New Roman"/>
                        <a:ea typeface="Times New Roman"/>
                        <a:cs typeface="Times New Roman"/>
                        <a:sym typeface="Times New Roman"/>
                      </a:endParaRPr>
                    </a:p>
                    <a:p>
                      <a:pPr indent="-95250" lvl="0" marL="171450" marR="0" rtl="0" algn="l">
                        <a:spcBef>
                          <a:spcPts val="1200"/>
                        </a:spcBef>
                        <a:spcAft>
                          <a:spcPts val="0"/>
                        </a:spcAft>
                        <a:buClr>
                          <a:schemeClr val="dk1"/>
                        </a:buClr>
                        <a:buSzPts val="1200"/>
                        <a:buFont typeface="Arial"/>
                        <a:buNone/>
                      </a:pPr>
                      <a:r>
                        <a:t/>
                      </a:r>
                      <a:endParaRPr sz="1200">
                        <a:latin typeface="Times New Roman"/>
                        <a:ea typeface="Times New Roman"/>
                        <a:cs typeface="Times New Roman"/>
                        <a:sym typeface="Times New Roman"/>
                      </a:endParaRPr>
                    </a:p>
                  </a:txBody>
                  <a:tcPr marT="45725" marB="45725" marR="91450" marL="91450">
                    <a:solidFill>
                      <a:srgbClr val="F0F0DD"/>
                    </a:solidFill>
                  </a:tcPr>
                </a:tc>
              </a:tr>
              <a:tr h="11377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5</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Fan, Aumiller, and Gertz, “Evaluating Factual Consistency of Texts with Semantic Role Labeling,” 2023</a:t>
                      </a:r>
                      <a:endParaRPr i="0" sz="1200">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ACL 2023 Proceedings</a:t>
                      </a:r>
                      <a:endParaRPr sz="1200">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Semantic Role Labeling (SRL); datasets: QAGS (CNN/XSUM), SummEval.</a:t>
                      </a:r>
                      <a:endParaRPr i="0" sz="1200">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Proposed SRLScore (reference-free factuality metric); achieved high correlation with human judgment; interpretable</a:t>
                      </a:r>
                      <a:endParaRPr i="0" sz="1200">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D5D59B"/>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Times New Roman"/>
                          <a:ea typeface="Times New Roman"/>
                          <a:cs typeface="Times New Roman"/>
                          <a:sym typeface="Times New Roman"/>
                        </a:rPr>
                        <a:t>Slower than LM-based methods; only tested in English; occasional mismatch with human evaluations</a:t>
                      </a:r>
                      <a:endParaRPr i="0" sz="1200">
                        <a:latin typeface="Times New Roman"/>
                        <a:ea typeface="Times New Roman"/>
                        <a:cs typeface="Times New Roman"/>
                        <a:sym typeface="Times New Roman"/>
                      </a:endParaRPr>
                    </a:p>
                  </a:txBody>
                  <a:tcPr marT="45725" marB="45725" marR="91450" marL="91450">
                    <a:lnB cap="flat" cmpd="sng" w="381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84516d7753_5_16"/>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(cont…)</a:t>
            </a:r>
            <a:endParaRPr b="0"/>
          </a:p>
        </p:txBody>
      </p:sp>
      <p:sp>
        <p:nvSpPr>
          <p:cNvPr id="115" name="Google Shape;115;g384516d7753_5_16"/>
          <p:cNvSpPr txBox="1"/>
          <p:nvPr/>
        </p:nvSpPr>
        <p:spPr>
          <a:xfrm>
            <a:off x="-7" y="160250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16" name="Google Shape;116;g384516d7753_5_16"/>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2250"/>
                <a:gridCol w="1760275"/>
                <a:gridCol w="1465250"/>
                <a:gridCol w="1421175"/>
                <a:gridCol w="1828800"/>
                <a:gridCol w="1905925"/>
              </a:tblGrid>
              <a:tr h="760175">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S. No.</a:t>
                      </a:r>
                      <a:endParaRPr sz="1200"/>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Author &amp; </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Paper Title </a:t>
                      </a:r>
                      <a:br>
                        <a:rPr b="0" i="0" lang="en-US" sz="1200">
                          <a:latin typeface="Helvetica Neue"/>
                          <a:ea typeface="Helvetica Neue"/>
                          <a:cs typeface="Helvetica Neue"/>
                          <a:sym typeface="Helvetica Neue"/>
                        </a:rPr>
                      </a:br>
                      <a:r>
                        <a:rPr b="0" i="0" lang="en-US" sz="1200">
                          <a:latin typeface="Helvetica Neue"/>
                          <a:ea typeface="Helvetica Neue"/>
                          <a:cs typeface="Helvetica Neue"/>
                          <a:sym typeface="Helvetica Neue"/>
                        </a:rPr>
                        <a:t>[Citation]</a:t>
                      </a:r>
                      <a:endParaRPr sz="1200"/>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Journal/</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Conference</a:t>
                      </a:r>
                      <a:br>
                        <a:rPr b="0" i="0" lang="en-US" sz="1200">
                          <a:latin typeface="Helvetica Neue"/>
                          <a:ea typeface="Helvetica Neue"/>
                          <a:cs typeface="Helvetica Neue"/>
                          <a:sym typeface="Helvetica Neue"/>
                        </a:rPr>
                      </a:br>
                      <a:r>
                        <a:rPr b="0" i="0" lang="en-US" sz="1200">
                          <a:latin typeface="Helvetica Neue"/>
                          <a:ea typeface="Helvetica Neue"/>
                          <a:cs typeface="Helvetica Neue"/>
                          <a:sym typeface="Helvetica Neue"/>
                        </a:rPr>
                        <a:t>(Year)</a:t>
                      </a:r>
                      <a:endParaRPr sz="1200"/>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Tools/</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Techniques/</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Dataset</a:t>
                      </a:r>
                      <a:endParaRPr sz="1200"/>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Key Findings/</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Results</a:t>
                      </a:r>
                      <a:endParaRPr sz="1200"/>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200">
                          <a:latin typeface="Helvetica Neue"/>
                          <a:ea typeface="Helvetica Neue"/>
                          <a:cs typeface="Helvetica Neue"/>
                          <a:sym typeface="Helvetica Neue"/>
                        </a:rPr>
                        <a:t>Limitations/</a:t>
                      </a:r>
                      <a:endParaRPr sz="1200"/>
                    </a:p>
                    <a:p>
                      <a:pPr indent="0" lvl="0" marL="0" marR="0" rtl="0" algn="ctr">
                        <a:spcBef>
                          <a:spcPts val="0"/>
                        </a:spcBef>
                        <a:spcAft>
                          <a:spcPts val="0"/>
                        </a:spcAft>
                        <a:buNone/>
                      </a:pPr>
                      <a:r>
                        <a:rPr b="0" i="0" lang="en-US" sz="1200">
                          <a:latin typeface="Helvetica Neue"/>
                          <a:ea typeface="Helvetica Neue"/>
                          <a:cs typeface="Helvetica Neue"/>
                          <a:sym typeface="Helvetica Neue"/>
                        </a:rPr>
                        <a:t>Gaps Identified</a:t>
                      </a:r>
                      <a:endParaRPr sz="1200"/>
                    </a:p>
                  </a:txBody>
                  <a:tcPr marT="45725" marB="45725" marR="91450" marL="91450">
                    <a:solidFill>
                      <a:srgbClr val="606029"/>
                    </a:solidFill>
                  </a:tcPr>
                </a:tc>
              </a:tr>
              <a:tr h="12036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6</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Guliyev and Özer, “On the ‘Hallucinations’ of Artificial Intelligence and Their Terminologies,” 2024.</a:t>
                      </a:r>
                      <a:endParaRPr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i="1" lang="en-US" sz="1200">
                          <a:latin typeface="Times New Roman"/>
                          <a:ea typeface="Times New Roman"/>
                          <a:cs typeface="Times New Roman"/>
                          <a:sym typeface="Times New Roman"/>
                        </a:rPr>
                        <a:t>Cureus</a:t>
                      </a:r>
                      <a:r>
                        <a:rPr lang="en-US" sz="1200">
                          <a:latin typeface="Times New Roman"/>
                          <a:ea typeface="Times New Roman"/>
                          <a:cs typeface="Times New Roman"/>
                          <a:sym typeface="Times New Roman"/>
                        </a:rPr>
                        <a:t> (2024).</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Conceptual analysis of terminology.</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Argues “hallucination” is metaphorical, not literal; proposes using terms like fabrication/confabulation instead.</a:t>
                      </a:r>
                      <a:endParaRPr i="0" sz="12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Times New Roman"/>
                          <a:ea typeface="Times New Roman"/>
                          <a:cs typeface="Times New Roman"/>
                          <a:sym typeface="Times New Roman"/>
                        </a:rPr>
                        <a:t>Theoretical only; no technical solutions</a:t>
                      </a:r>
                      <a:endParaRPr sz="1200">
                        <a:latin typeface="Times New Roman"/>
                        <a:ea typeface="Times New Roman"/>
                        <a:cs typeface="Times New Roman"/>
                        <a:sym typeface="Times New Roman"/>
                      </a:endParaRPr>
                    </a:p>
                  </a:txBody>
                  <a:tcPr marT="45725" marB="45725" marR="91450" marL="91450">
                    <a:solidFill>
                      <a:srgbClr val="D5D59B"/>
                    </a:solidFill>
                  </a:tcPr>
                </a:tc>
              </a:tr>
              <a:tr h="12036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7</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Huang et al., “A Survey on Hallucination in Large Language Models,” 2023.</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marR="0" rtl="0" algn="l">
                        <a:spcBef>
                          <a:spcPts val="0"/>
                        </a:spcBef>
                        <a:spcAft>
                          <a:spcPts val="0"/>
                        </a:spcAft>
                        <a:buNone/>
                      </a:pPr>
                      <a:r>
                        <a:rPr i="1" lang="en-US" sz="1200">
                          <a:latin typeface="Times New Roman"/>
                          <a:ea typeface="Times New Roman"/>
                          <a:cs typeface="Times New Roman"/>
                          <a:sym typeface="Times New Roman"/>
                        </a:rPr>
                        <a:t>ACM Computing Surveys</a:t>
                      </a:r>
                      <a:r>
                        <a:rPr lang="en-US" sz="1200">
                          <a:latin typeface="Times New Roman"/>
                          <a:ea typeface="Times New Roman"/>
                          <a:cs typeface="Times New Roman"/>
                          <a:sym typeface="Times New Roman"/>
                        </a:rPr>
                        <a:t> (2024).</a:t>
                      </a:r>
                      <a:endParaRPr i="0"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Literature survey of LLM hallucination studies</a:t>
                      </a:r>
                      <a:endParaRPr i="0"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Provided taxonomy of hallucinations (factual vs. faithfulness); identified causes (data, model, decoding); reviewed benchmarks like TruthfulQA and HaluEval</a:t>
                      </a:r>
                      <a:endParaRPr i="0"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c>
                  <a:txBody>
                    <a:bodyPr/>
                    <a:lstStyle/>
                    <a:p>
                      <a:pPr indent="-95250" lvl="0" marL="171450" marR="0" rtl="0" algn="l">
                        <a:spcBef>
                          <a:spcPts val="0"/>
                        </a:spcBef>
                        <a:spcAft>
                          <a:spcPts val="0"/>
                        </a:spcAft>
                        <a:buClr>
                          <a:schemeClr val="dk1"/>
                        </a:buClr>
                        <a:buSzPts val="1200"/>
                        <a:buFont typeface="Arial"/>
                        <a:buNone/>
                      </a:pPr>
                      <a:r>
                        <a:rPr lang="en-US" sz="1200">
                          <a:latin typeface="Times New Roman"/>
                          <a:ea typeface="Times New Roman"/>
                          <a:cs typeface="Times New Roman"/>
                          <a:sym typeface="Times New Roman"/>
                        </a:rPr>
                        <a:t>Survey only; no new method proposed; limited multimodal/multilingual coverage.</a:t>
                      </a:r>
                      <a:endParaRPr sz="1200">
                        <a:latin typeface="Times New Roman"/>
                        <a:ea typeface="Times New Roman"/>
                        <a:cs typeface="Times New Roman"/>
                        <a:sym typeface="Times New Roman"/>
                      </a:endParaRPr>
                    </a:p>
                  </a:txBody>
                  <a:tcPr marT="45725" marB="45725" marR="91450" marL="91450">
                    <a:lnB cap="flat" cmpd="sng" w="12700">
                      <a:solidFill>
                        <a:schemeClr val="lt1"/>
                      </a:solidFill>
                      <a:prstDash val="solid"/>
                      <a:round/>
                      <a:headEnd len="sm" w="sm" type="none"/>
                      <a:tailEnd len="sm" w="sm" type="none"/>
                    </a:lnB>
                    <a:solidFill>
                      <a:srgbClr val="F0F0DD"/>
                    </a:solidFill>
                  </a:tcPr>
                </a:tc>
              </a:tr>
              <a:tr h="1203625">
                <a:tc>
                  <a:txBody>
                    <a:bodyPr/>
                    <a:lstStyle/>
                    <a:p>
                      <a:pPr indent="0" lvl="0" marL="0" marR="0" rtl="0" algn="ctr">
                        <a:spcBef>
                          <a:spcPts val="0"/>
                        </a:spcBef>
                        <a:spcAft>
                          <a:spcPts val="0"/>
                        </a:spcAft>
                        <a:buNone/>
                      </a:pPr>
                      <a:r>
                        <a:rPr i="0" lang="en-US" sz="1200">
                          <a:latin typeface="Times New Roman"/>
                          <a:ea typeface="Times New Roman"/>
                          <a:cs typeface="Times New Roman"/>
                          <a:sym typeface="Times New Roman"/>
                        </a:rPr>
                        <a:t>1</a:t>
                      </a:r>
                      <a:r>
                        <a:rPr lang="en-US" sz="1200">
                          <a:latin typeface="Times New Roman"/>
                          <a:ea typeface="Times New Roman"/>
                          <a:cs typeface="Times New Roman"/>
                          <a:sym typeface="Times New Roman"/>
                        </a:rPr>
                        <a:t>8</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Santosh S. Vempala et al.</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arXiv Preprint 2025</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SzPts val="1100"/>
                        <a:buNone/>
                      </a:pPr>
                      <a:r>
                        <a:rPr lang="en-US" sz="1200">
                          <a:latin typeface="Times New Roman"/>
                          <a:ea typeface="Times New Roman"/>
                          <a:cs typeface="Times New Roman"/>
                          <a:sym typeface="Times New Roman"/>
                        </a:rPr>
                        <a:t>Computational learning theory, binary classification reduction, error analysis, benchmark evaluation review, confidence-targeted evaluation</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Hallucinations are statistically inevitable; caused by arbitrary facts, poor models, and evaluation design; benchmarks reward guessing over “I don’t know.”</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Mostly theoretical, simplified binary framework, focused on factual QA, little empirical validation.Need fine-grained taxonomy, large-scale empirical tests, domain-specific study, and better evaluation metrics</a:t>
                      </a:r>
                      <a:endParaRPr sz="1200">
                        <a:latin typeface="Times New Roman"/>
                        <a:ea typeface="Times New Roman"/>
                        <a:cs typeface="Times New Roman"/>
                        <a:sym typeface="Times New Roman"/>
                      </a:endParaRPr>
                    </a:p>
                    <a:p>
                      <a:pPr indent="-95250" lvl="0" marL="171450" marR="0" rtl="0" algn="l">
                        <a:spcBef>
                          <a:spcPts val="1200"/>
                        </a:spcBef>
                        <a:spcAft>
                          <a:spcPts val="0"/>
                        </a:spcAft>
                        <a:buClr>
                          <a:schemeClr val="dk1"/>
                        </a:buClr>
                        <a:buSzPts val="1200"/>
                        <a:buFont typeface="Arial"/>
                        <a:buNone/>
                      </a:pPr>
                      <a:r>
                        <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8461899531_0_2"/>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Literature Review (cont…)</a:t>
            </a:r>
            <a:endParaRPr b="0"/>
          </a:p>
        </p:txBody>
      </p:sp>
      <p:sp>
        <p:nvSpPr>
          <p:cNvPr id="122" name="Google Shape;122;g38461899531_0_2"/>
          <p:cNvSpPr txBox="1"/>
          <p:nvPr/>
        </p:nvSpPr>
        <p:spPr>
          <a:xfrm>
            <a:off x="-7" y="1602506"/>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23" name="Google Shape;123;g38461899531_0_2"/>
          <p:cNvGraphicFramePr/>
          <p:nvPr/>
        </p:nvGraphicFramePr>
        <p:xfrm>
          <a:off x="110168" y="881348"/>
          <a:ext cx="3000000" cy="3000000"/>
        </p:xfrm>
        <a:graphic>
          <a:graphicData uri="http://schemas.openxmlformats.org/drawingml/2006/table">
            <a:tbl>
              <a:tblPr bandRow="1" firstRow="1">
                <a:noFill/>
                <a:tableStyleId>{377F1409-8902-4A2D-BE7C-06FC4102EE46}</a:tableStyleId>
              </a:tblPr>
              <a:tblGrid>
                <a:gridCol w="542250"/>
                <a:gridCol w="1760275"/>
                <a:gridCol w="1465250"/>
                <a:gridCol w="1421175"/>
                <a:gridCol w="1828800"/>
                <a:gridCol w="1905925"/>
              </a:tblGrid>
              <a:tr h="760175">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S. No.</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Author &amp; </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Paper Title </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[Citation]</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Journal/</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Conference</a:t>
                      </a:r>
                      <a:br>
                        <a:rPr b="0" i="0" lang="en-US" sz="1400">
                          <a:latin typeface="Helvetica Neue"/>
                          <a:ea typeface="Helvetica Neue"/>
                          <a:cs typeface="Helvetica Neue"/>
                          <a:sym typeface="Helvetica Neue"/>
                        </a:rPr>
                      </a:br>
                      <a:r>
                        <a:rPr b="0" i="0" lang="en-US" sz="1400">
                          <a:latin typeface="Helvetica Neue"/>
                          <a:ea typeface="Helvetica Neue"/>
                          <a:cs typeface="Helvetica Neue"/>
                          <a:sym typeface="Helvetica Neue"/>
                        </a:rPr>
                        <a:t>(Year)</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Tools/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Techniques/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Dataset</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Key Findings/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Results</a:t>
                      </a:r>
                      <a:endParaRPr/>
                    </a:p>
                  </a:txBody>
                  <a:tcPr marT="45725" marB="45725" marR="91450" marL="91450">
                    <a:solidFill>
                      <a:srgbClr val="606029"/>
                    </a:solidFill>
                  </a:tcPr>
                </a:tc>
                <a:tc>
                  <a:txBody>
                    <a:bodyPr/>
                    <a:lstStyle/>
                    <a:p>
                      <a:pPr indent="0" lvl="0" marL="0" marR="0" rtl="0" algn="ctr">
                        <a:spcBef>
                          <a:spcPts val="0"/>
                        </a:spcBef>
                        <a:spcAft>
                          <a:spcPts val="0"/>
                        </a:spcAft>
                        <a:buNone/>
                      </a:pPr>
                      <a:r>
                        <a:rPr b="0" i="0" lang="en-US" sz="1400">
                          <a:latin typeface="Helvetica Neue"/>
                          <a:ea typeface="Helvetica Neue"/>
                          <a:cs typeface="Helvetica Neue"/>
                          <a:sym typeface="Helvetica Neue"/>
                        </a:rPr>
                        <a:t>Limitations/</a:t>
                      </a:r>
                      <a:endParaRPr/>
                    </a:p>
                    <a:p>
                      <a:pPr indent="0" lvl="0" marL="0" marR="0" rtl="0" algn="ctr">
                        <a:spcBef>
                          <a:spcPts val="0"/>
                        </a:spcBef>
                        <a:spcAft>
                          <a:spcPts val="0"/>
                        </a:spcAft>
                        <a:buNone/>
                      </a:pPr>
                      <a:r>
                        <a:rPr b="0" i="0" lang="en-US" sz="1400">
                          <a:latin typeface="Helvetica Neue"/>
                          <a:ea typeface="Helvetica Neue"/>
                          <a:cs typeface="Helvetica Neue"/>
                          <a:sym typeface="Helvetica Neue"/>
                        </a:rPr>
                        <a:t>Gaps Identified</a:t>
                      </a:r>
                      <a:endParaRPr/>
                    </a:p>
                  </a:txBody>
                  <a:tcPr marT="45725" marB="45725" marR="91450" marL="91450">
                    <a:solidFill>
                      <a:srgbClr val="606029"/>
                    </a:solidFill>
                  </a:tcPr>
                </a:tc>
              </a:tr>
              <a:tr h="1203625">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19</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solidFill>
                      <a:srgbClr val="F0F0DD"/>
                    </a:solidFill>
                  </a:tcPr>
                </a:tc>
                <a:tc>
                  <a:txBody>
                    <a:bodyPr/>
                    <a:lstStyle/>
                    <a:p>
                      <a:pPr indent="0" lvl="0" marL="0" marR="0" rtl="0" algn="l">
                        <a:spcBef>
                          <a:spcPts val="0"/>
                        </a:spcBef>
                        <a:spcAft>
                          <a:spcPts val="0"/>
                        </a:spcAft>
                        <a:buNone/>
                      </a:pPr>
                      <a:r>
                        <a:rPr lang="en-US" sz="1200">
                          <a:latin typeface="Times New Roman"/>
                          <a:ea typeface="Times New Roman"/>
                          <a:cs typeface="Times New Roman"/>
                          <a:sym typeface="Times New Roman"/>
                        </a:rPr>
                        <a:t>Jeffrey P. Bigham et al.</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arXiv preprint / Presented at Human-Centered Machine Learning Workshop (2024); Scheduled at ACL (Vienna, 2025)</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SzPts val="1100"/>
                        <a:buNone/>
                      </a:pPr>
                      <a:r>
                        <a:rPr lang="en-US" sz="1200">
                          <a:latin typeface="Times New Roman"/>
                          <a:ea typeface="Times New Roman"/>
                          <a:cs typeface="Times New Roman"/>
                          <a:sym typeface="Times New Roman"/>
                        </a:rPr>
                        <a:t>MMAU Benchmark</a:t>
                      </a:r>
                      <a:endParaRPr sz="1200">
                        <a:latin typeface="Times New Roman"/>
                        <a:ea typeface="Times New Roman"/>
                        <a:cs typeface="Times New Roman"/>
                        <a:sym typeface="Times New Roman"/>
                      </a:endParaRPr>
                    </a:p>
                    <a:p>
                      <a:pPr indent="0" lvl="0" marL="0" rtl="0" algn="l">
                        <a:spcBef>
                          <a:spcPts val="0"/>
                        </a:spcBef>
                        <a:spcAft>
                          <a:spcPts val="0"/>
                        </a:spcAft>
                        <a:buSzPts val="1100"/>
                        <a:buNone/>
                      </a:pPr>
                      <a:r>
                        <a:rPr lang="en-US" sz="1200">
                          <a:latin typeface="Times New Roman"/>
                          <a:ea typeface="Times New Roman"/>
                          <a:cs typeface="Times New Roman"/>
                          <a:sym typeface="Times New Roman"/>
                        </a:rPr>
                        <a:t>PLUM (Pipeline for Learning User Conversations in LLMs)</a:t>
                      </a:r>
                      <a:endParaRPr sz="1200">
                        <a:latin typeface="Times New Roman"/>
                        <a:ea typeface="Times New Roman"/>
                        <a:cs typeface="Times New Roman"/>
                        <a:sym typeface="Times New Roman"/>
                      </a:endParaRPr>
                    </a:p>
                    <a:p>
                      <a:pPr indent="0" lvl="0" marL="0" rtl="0" algn="l">
                        <a:spcBef>
                          <a:spcPts val="0"/>
                        </a:spcBef>
                        <a:spcAft>
                          <a:spcPts val="0"/>
                        </a:spcAft>
                        <a:buSzPts val="1100"/>
                        <a:buNone/>
                      </a:pPr>
                      <a:r>
                        <a:rPr lang="en-US" sz="1200">
                          <a:latin typeface="Times New Roman"/>
                          <a:ea typeface="Times New Roman"/>
                          <a:cs typeface="Times New Roman"/>
                          <a:sym typeface="Times New Roman"/>
                        </a:rPr>
                        <a:t>External Validation Tools</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solidFill>
                      <a:srgbClr val="F0F0DD"/>
                    </a:solidFill>
                  </a:tcPr>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MMAU provides more comprehensive and interpretable evaluation compared to older benchmarks.</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PLUM improves personalization by leveraging conversational history, beyond static user preferences.</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External validation sometimes improves annotation quality and reduces biases in LLM-as-a-Judge setups.</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solidFill>
                      <a:srgbClr val="F0F0DD"/>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External validation tools improved results only </a:t>
                      </a:r>
                      <a:r>
                        <a:rPr i="1" lang="en-US" sz="1200">
                          <a:latin typeface="Times New Roman"/>
                          <a:ea typeface="Times New Roman"/>
                          <a:cs typeface="Times New Roman"/>
                          <a:sym typeface="Times New Roman"/>
                        </a:rPr>
                        <a:t>“often, but not always”</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Personalization in PLUM still limited to extracted Q–A pairs </a:t>
                      </a:r>
                      <a:endParaRPr sz="1200">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Apple strong in research output, but practical deployment into consumer-facing AI products lags behind competitors.</a:t>
                      </a:r>
                      <a:endParaRPr i="0"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38100">
                      <a:solidFill>
                        <a:schemeClr val="lt1"/>
                      </a:solidFill>
                      <a:prstDash val="solid"/>
                      <a:round/>
                      <a:headEnd len="sm" w="sm" type="none"/>
                      <a:tailEnd len="sm" w="sm" type="none"/>
                    </a:lnB>
                    <a:solidFill>
                      <a:srgbClr val="F0F0DD"/>
                    </a:solidFill>
                  </a:tcPr>
                </a:tc>
              </a:tr>
              <a:tr h="1203625">
                <a:tc>
                  <a:txBody>
                    <a:bodyPr/>
                    <a:lstStyle/>
                    <a:p>
                      <a:pPr indent="0" lvl="0" marL="0" marR="0" rtl="0" algn="ctr">
                        <a:spcBef>
                          <a:spcPts val="0"/>
                        </a:spcBef>
                        <a:spcAft>
                          <a:spcPts val="0"/>
                        </a:spcAft>
                        <a:buNone/>
                      </a:pPr>
                      <a:r>
                        <a:rPr lang="en-US" sz="1200">
                          <a:latin typeface="Times New Roman"/>
                          <a:ea typeface="Times New Roman"/>
                          <a:cs typeface="Times New Roman"/>
                          <a:sym typeface="Times New Roman"/>
                        </a:rPr>
                        <a:t>20</a:t>
                      </a:r>
                      <a:r>
                        <a:rPr i="0"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Alkaissi and McFarlane, “Artificial Hallucinations in ChatGPT: Implications in Scientific Writing,” 2023.</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None/>
                      </a:pPr>
                      <a:r>
                        <a:rPr i="1" lang="en-US" sz="1200">
                          <a:latin typeface="Times New Roman"/>
                          <a:ea typeface="Times New Roman"/>
                          <a:cs typeface="Times New Roman"/>
                          <a:sym typeface="Times New Roman"/>
                        </a:rPr>
                        <a:t>Cureus Journal of Medical Science</a:t>
                      </a:r>
                      <a:r>
                        <a:rPr lang="en-US" sz="1200">
                          <a:latin typeface="Times New Roman"/>
                          <a:ea typeface="Times New Roman"/>
                          <a:cs typeface="Times New Roman"/>
                          <a:sym typeface="Times New Roman"/>
                        </a:rPr>
                        <a:t> (2023)</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Tested ChatGPT on medical topics (Homocystinuria, Pompe disease).</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Showed ChatGPT fabricates citations and unsupported claims; highlights risks in medical/scientific domains</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c>
                  <a:txBody>
                    <a:bodyPr/>
                    <a:lstStyle/>
                    <a:p>
                      <a:pPr indent="0" lvl="0" marL="0" rtl="0" algn="l">
                        <a:spcBef>
                          <a:spcPts val="0"/>
                        </a:spcBef>
                        <a:spcAft>
                          <a:spcPts val="0"/>
                        </a:spcAft>
                        <a:buNone/>
                      </a:pPr>
                      <a:r>
                        <a:rPr lang="en-US" sz="1200">
                          <a:latin typeface="Times New Roman"/>
                          <a:ea typeface="Times New Roman"/>
                          <a:cs typeface="Times New Roman"/>
                          <a:sym typeface="Times New Roman"/>
                        </a:rPr>
                        <a:t>Case-based only; not systematic; no general detection method proposed</a:t>
                      </a:r>
                      <a:endParaRPr sz="1200">
                        <a:latin typeface="Times New Roman"/>
                        <a:ea typeface="Times New Roman"/>
                        <a:cs typeface="Times New Roman"/>
                        <a:sym typeface="Times New Roman"/>
                      </a:endParaRPr>
                    </a:p>
                    <a:p>
                      <a:pPr indent="0" lvl="0" marL="0" rtl="0" algn="l">
                        <a:spcBef>
                          <a:spcPts val="0"/>
                        </a:spcBef>
                        <a:spcAft>
                          <a:spcPts val="0"/>
                        </a:spcAft>
                        <a:buNone/>
                      </a:pPr>
                      <a:r>
                        <a:rPr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5D59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adce7c526b_1_15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a:t>Work Done (after Mid-Term Evaluation)</a:t>
            </a:r>
            <a:endParaRPr/>
          </a:p>
        </p:txBody>
      </p:sp>
      <p:sp>
        <p:nvSpPr>
          <p:cNvPr id="129" name="Google Shape;129;g3adce7c526b_1_159"/>
          <p:cNvSpPr txBox="1"/>
          <p:nvPr/>
        </p:nvSpPr>
        <p:spPr>
          <a:xfrm>
            <a:off x="93600" y="894525"/>
            <a:ext cx="8956800" cy="5808300"/>
          </a:xfrm>
          <a:prstGeom prst="rect">
            <a:avLst/>
          </a:prstGeom>
          <a:noFill/>
          <a:ln>
            <a:noFill/>
          </a:ln>
        </p:spPr>
        <p:txBody>
          <a:bodyPr anchorCtr="0" anchor="t" bIns="45700" lIns="91425" spcFirstLastPara="1" rIns="91425" wrap="square" tIns="45700">
            <a:noAutofit/>
          </a:bodyPr>
          <a:lstStyle/>
          <a:p>
            <a:pPr indent="-238125" lvl="0" marL="342900" marR="0" rtl="0" algn="just">
              <a:lnSpc>
                <a:spcPct val="150000"/>
              </a:lnSpc>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Dataset Built:</a:t>
            </a:r>
            <a:r>
              <a:rPr lang="en-US" sz="1800">
                <a:solidFill>
                  <a:schemeClr val="dk1"/>
                </a:solidFill>
                <a:latin typeface="Times New Roman"/>
                <a:ea typeface="Times New Roman"/>
                <a:cs typeface="Times New Roman"/>
                <a:sym typeface="Times New Roman"/>
              </a:rPr>
              <a:t>Generated diverse responses per prompt, cleaned &amp; organized into a    structured hallucination dataset.</a:t>
            </a:r>
            <a:endParaRPr sz="1800">
              <a:solidFill>
                <a:schemeClr val="dk1"/>
              </a:solidFill>
              <a:latin typeface="Times New Roman"/>
              <a:ea typeface="Times New Roman"/>
              <a:cs typeface="Times New Roman"/>
              <a:sym typeface="Times New Roman"/>
            </a:endParaRPr>
          </a:p>
          <a:p>
            <a:pPr indent="-238125" lvl="0" marL="342900" rtl="0" algn="just">
              <a:lnSpc>
                <a:spcPct val="150000"/>
              </a:lnSpc>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Embeddings &amp; Graph:</a:t>
            </a:r>
            <a:r>
              <a:rPr lang="en-US" sz="1800">
                <a:solidFill>
                  <a:schemeClr val="dk1"/>
                </a:solidFill>
                <a:latin typeface="Times New Roman"/>
                <a:ea typeface="Times New Roman"/>
                <a:cs typeface="Times New Roman"/>
                <a:sym typeface="Times New Roman"/>
              </a:rPr>
              <a:t> Converted responses into embeddings and constructed similarity graphs (threshold + k-NN).</a:t>
            </a:r>
            <a:endParaRPr sz="1800">
              <a:solidFill>
                <a:schemeClr val="dk1"/>
              </a:solidFill>
              <a:latin typeface="Times New Roman"/>
              <a:ea typeface="Times New Roman"/>
              <a:cs typeface="Times New Roman"/>
              <a:sym typeface="Times New Roman"/>
            </a:endParaRPr>
          </a:p>
          <a:p>
            <a:pPr indent="-238125" lvl="0" marL="342900" rtl="0" algn="just">
              <a:lnSpc>
                <a:spcPct val="150000"/>
              </a:lnSpc>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Model Development:</a:t>
            </a:r>
            <a:r>
              <a:rPr lang="en-US" sz="1800">
                <a:solidFill>
                  <a:schemeClr val="dk1"/>
                </a:solidFill>
                <a:latin typeface="Times New Roman"/>
                <a:ea typeface="Times New Roman"/>
                <a:cs typeface="Times New Roman"/>
                <a:sym typeface="Times New Roman"/>
              </a:rPr>
              <a:t> Implemented GAT model, baseline methods (KNN, classifiers), and contrastive learning for better separation.</a:t>
            </a:r>
            <a:endParaRPr sz="1800">
              <a:solidFill>
                <a:schemeClr val="dk1"/>
              </a:solidFill>
              <a:latin typeface="Times New Roman"/>
              <a:ea typeface="Times New Roman"/>
              <a:cs typeface="Times New Roman"/>
              <a:sym typeface="Times New Roman"/>
            </a:endParaRPr>
          </a:p>
          <a:p>
            <a:pPr indent="-238125" lvl="0" marL="342900" rtl="0" algn="just">
              <a:lnSpc>
                <a:spcPct val="150000"/>
              </a:lnSpc>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Scoring Framework:</a:t>
            </a:r>
            <a:r>
              <a:rPr lang="en-US" sz="1800">
                <a:solidFill>
                  <a:schemeClr val="dk1"/>
                </a:solidFill>
                <a:latin typeface="Times New Roman"/>
                <a:ea typeface="Times New Roman"/>
                <a:cs typeface="Times New Roman"/>
                <a:sym typeface="Times New Roman"/>
              </a:rPr>
              <a:t> Integrated semantic similarity, SRL-based fact extraction, and ensemble scoring for reliable detection.</a:t>
            </a:r>
            <a:endParaRPr sz="1800">
              <a:solidFill>
                <a:schemeClr val="dk1"/>
              </a:solidFill>
              <a:latin typeface="Times New Roman"/>
              <a:ea typeface="Times New Roman"/>
              <a:cs typeface="Times New Roman"/>
              <a:sym typeface="Times New Roman"/>
            </a:endParaRPr>
          </a:p>
          <a:p>
            <a:pPr indent="-238125" lvl="0" marL="342900" rtl="0" algn="just">
              <a:lnSpc>
                <a:spcPct val="150000"/>
              </a:lnSpc>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Testing &amp; Results:</a:t>
            </a:r>
            <a:r>
              <a:rPr lang="en-US" sz="1800">
                <a:solidFill>
                  <a:schemeClr val="dk1"/>
                </a:solidFill>
                <a:latin typeface="Times New Roman"/>
                <a:ea typeface="Times New Roman"/>
                <a:cs typeface="Times New Roman"/>
                <a:sym typeface="Times New Roman"/>
              </a:rPr>
              <a:t> Performed full evaluation (F1, recall, confusion matrix). GAT outperformed baselines in identifying hallucinations.</a:t>
            </a:r>
            <a:endParaRPr sz="1800">
              <a:solidFill>
                <a:schemeClr val="dk1"/>
              </a:solidFill>
              <a:latin typeface="Times New Roman"/>
              <a:ea typeface="Times New Roman"/>
              <a:cs typeface="Times New Roman"/>
              <a:sym typeface="Times New Roman"/>
            </a:endParaRPr>
          </a:p>
          <a:p>
            <a:pPr indent="-238125" lvl="0" marL="342900" rtl="0" algn="just">
              <a:lnSpc>
                <a:spcPct val="150000"/>
              </a:lnSpc>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Visual Outputs:</a:t>
            </a:r>
            <a:r>
              <a:rPr lang="en-US" sz="1800">
                <a:solidFill>
                  <a:schemeClr val="dk1"/>
                </a:solidFill>
                <a:latin typeface="Times New Roman"/>
                <a:ea typeface="Times New Roman"/>
                <a:cs typeface="Times New Roman"/>
                <a:sym typeface="Times New Roman"/>
              </a:rPr>
              <a:t> Created UMAP plots, node distributions, and interpretability reports.</a:t>
            </a:r>
            <a:endParaRPr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8cf3ca21e3_0_64"/>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Project Design </a:t>
            </a:r>
            <a:endParaRPr b="0"/>
          </a:p>
        </p:txBody>
      </p:sp>
      <p:sp>
        <p:nvSpPr>
          <p:cNvPr id="135" name="Google Shape;135;g38cf3ca21e3_0_64"/>
          <p:cNvSpPr txBox="1"/>
          <p:nvPr/>
        </p:nvSpPr>
        <p:spPr>
          <a:xfrm>
            <a:off x="77125" y="804226"/>
            <a:ext cx="8956800" cy="50022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136" name="Google Shape;136;g38cf3ca21e3_0_64"/>
          <p:cNvSpPr txBox="1"/>
          <p:nvPr/>
        </p:nvSpPr>
        <p:spPr>
          <a:xfrm>
            <a:off x="1269175" y="5858725"/>
            <a:ext cx="657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Times New Roman"/>
                <a:ea typeface="Times New Roman"/>
                <a:cs typeface="Times New Roman"/>
                <a:sym typeface="Times New Roman"/>
              </a:rPr>
              <a:t>Figure 1</a:t>
            </a:r>
            <a:r>
              <a:rPr lang="en-US" sz="1800">
                <a:solidFill>
                  <a:schemeClr val="dk1"/>
                </a:solidFill>
                <a:latin typeface="Times New Roman"/>
                <a:ea typeface="Times New Roman"/>
                <a:cs typeface="Times New Roman"/>
                <a:sym typeface="Times New Roman"/>
              </a:rPr>
              <a:t>: Functional Requirements of the AI Hallucination Detector</a:t>
            </a:r>
            <a:endParaRPr sz="2400">
              <a:solidFill>
                <a:schemeClr val="dk1"/>
              </a:solidFill>
              <a:latin typeface="Times New Roman"/>
              <a:ea typeface="Times New Roman"/>
              <a:cs typeface="Times New Roman"/>
              <a:sym typeface="Times New Roman"/>
            </a:endParaRPr>
          </a:p>
        </p:txBody>
      </p:sp>
      <p:pic>
        <p:nvPicPr>
          <p:cNvPr id="137" name="Google Shape;137;g38cf3ca21e3_0_64" title="PD1.png"/>
          <p:cNvPicPr preferRelativeResize="0"/>
          <p:nvPr/>
        </p:nvPicPr>
        <p:blipFill>
          <a:blip r:embed="rId3">
            <a:alphaModFix/>
          </a:blip>
          <a:stretch>
            <a:fillRect/>
          </a:stretch>
        </p:blipFill>
        <p:spPr>
          <a:xfrm>
            <a:off x="827100" y="804225"/>
            <a:ext cx="7767452" cy="5002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ae2a73ad87_0_1"/>
          <p:cNvSpPr txBox="1"/>
          <p:nvPr>
            <p:ph type="title"/>
          </p:nvPr>
        </p:nvSpPr>
        <p:spPr>
          <a:xfrm>
            <a:off x="40640" y="30480"/>
            <a:ext cx="8328900" cy="694200"/>
          </a:xfrm>
          <a:prstGeom prst="rect">
            <a:avLst/>
          </a:prstGeom>
        </p:spPr>
        <p:txBody>
          <a:bodyPr anchorCtr="0" anchor="ctr" bIns="45700" lIns="91425" spcFirstLastPara="1" rIns="91425" wrap="square" tIns="45700">
            <a:noAutofit/>
          </a:bodyPr>
          <a:lstStyle/>
          <a:p>
            <a:pPr indent="0" lvl="0" marL="90487" rtl="0" algn="l">
              <a:spcBef>
                <a:spcPts val="0"/>
              </a:spcBef>
              <a:spcAft>
                <a:spcPts val="0"/>
              </a:spcAft>
              <a:buNone/>
            </a:pPr>
            <a:r>
              <a:t/>
            </a:r>
            <a:endParaRPr/>
          </a:p>
          <a:p>
            <a:pPr indent="0" lvl="0" marL="90487" rtl="0" algn="l">
              <a:spcBef>
                <a:spcPts val="0"/>
              </a:spcBef>
              <a:spcAft>
                <a:spcPts val="0"/>
              </a:spcAft>
              <a:buClr>
                <a:schemeClr val="dk1"/>
              </a:buClr>
              <a:buFont typeface="Arial"/>
              <a:buNone/>
            </a:pPr>
            <a:r>
              <a:rPr lang="en-US"/>
              <a:t>Project Design</a:t>
            </a:r>
            <a:endParaRPr/>
          </a:p>
          <a:p>
            <a:pPr indent="0" lvl="0" marL="0" rtl="0" algn="l">
              <a:spcBef>
                <a:spcPts val="0"/>
              </a:spcBef>
              <a:spcAft>
                <a:spcPts val="0"/>
              </a:spcAft>
              <a:buNone/>
            </a:pPr>
            <a:r>
              <a:t/>
            </a:r>
            <a:endParaRPr/>
          </a:p>
        </p:txBody>
      </p:sp>
      <p:sp>
        <p:nvSpPr>
          <p:cNvPr id="144" name="Google Shape;144;g3ae2a73ad87_0_1"/>
          <p:cNvSpPr txBox="1"/>
          <p:nvPr>
            <p:ph idx="1" type="body"/>
          </p:nvPr>
        </p:nvSpPr>
        <p:spPr>
          <a:xfrm>
            <a:off x="86197" y="782321"/>
            <a:ext cx="8953500" cy="5976300"/>
          </a:xfrm>
          <a:prstGeom prst="rect">
            <a:avLst/>
          </a:prstGeom>
        </p:spPr>
        <p:txBody>
          <a:bodyPr anchorCtr="0" anchor="t" bIns="45700" lIns="91425" spcFirstLastPara="1" rIns="91425" wrap="square" tIns="45700">
            <a:noAutofit/>
          </a:bodyPr>
          <a:lstStyle/>
          <a:p>
            <a:pPr indent="0" lvl="0" marL="0" rtl="0" algn="just">
              <a:spcBef>
                <a:spcPts val="630"/>
              </a:spcBef>
              <a:spcAft>
                <a:spcPts val="0"/>
              </a:spcAft>
              <a:buNone/>
            </a:pPr>
            <a:r>
              <a:rPr lang="en-US"/>
              <a:t>.</a:t>
            </a:r>
            <a:endParaRPr/>
          </a:p>
        </p:txBody>
      </p:sp>
      <p:pic>
        <p:nvPicPr>
          <p:cNvPr id="145" name="Google Shape;145;g3ae2a73ad87_0_1" title="PD2.png"/>
          <p:cNvPicPr preferRelativeResize="0"/>
          <p:nvPr/>
        </p:nvPicPr>
        <p:blipFill>
          <a:blip r:embed="rId3">
            <a:alphaModFix/>
          </a:blip>
          <a:stretch>
            <a:fillRect/>
          </a:stretch>
        </p:blipFill>
        <p:spPr>
          <a:xfrm>
            <a:off x="2286000" y="881700"/>
            <a:ext cx="4572001" cy="57085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Design</a:t>
            </a:r>
            <a:endParaRPr/>
          </a:p>
        </p:txBody>
      </p:sp>
      <p:sp>
        <p:nvSpPr>
          <p:cNvPr id="151" name="Google Shape;151;p11"/>
          <p:cNvSpPr txBox="1"/>
          <p:nvPr/>
        </p:nvSpPr>
        <p:spPr>
          <a:xfrm>
            <a:off x="0" y="914850"/>
            <a:ext cx="8956800" cy="53577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system follows a </a:t>
            </a:r>
            <a:r>
              <a:rPr b="1" lang="en-US" sz="1800">
                <a:solidFill>
                  <a:schemeClr val="dk1"/>
                </a:solidFill>
                <a:latin typeface="Times New Roman"/>
                <a:ea typeface="Times New Roman"/>
                <a:cs typeface="Times New Roman"/>
                <a:sym typeface="Times New Roman"/>
              </a:rPr>
              <a:t>multi-stage pipeline architecture</a:t>
            </a:r>
            <a:r>
              <a:rPr lang="en-US" sz="1800">
                <a:solidFill>
                  <a:schemeClr val="dk1"/>
                </a:solidFill>
                <a:latin typeface="Times New Roman"/>
                <a:ea typeface="Times New Roman"/>
                <a:cs typeface="Times New Roman"/>
                <a:sym typeface="Times New Roman"/>
              </a:rPr>
              <a:t> to detect hallucinations in Large Language Model (LLM) outputs.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User prompts are processed to generate multiple model responses, which are then transformed into </a:t>
            </a:r>
            <a:r>
              <a:rPr b="1" lang="en-US" sz="1800">
                <a:solidFill>
                  <a:schemeClr val="dk1"/>
                </a:solidFill>
                <a:latin typeface="Times New Roman"/>
                <a:ea typeface="Times New Roman"/>
                <a:cs typeface="Times New Roman"/>
                <a:sym typeface="Times New Roman"/>
              </a:rPr>
              <a:t>semantic embeddings</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 </a:t>
            </a:r>
            <a:r>
              <a:rPr b="1" lang="en-US" sz="1800">
                <a:solidFill>
                  <a:schemeClr val="dk1"/>
                </a:solidFill>
                <a:latin typeface="Times New Roman"/>
                <a:ea typeface="Times New Roman"/>
                <a:cs typeface="Times New Roman"/>
                <a:sym typeface="Times New Roman"/>
              </a:rPr>
              <a:t>k-NN based similarity graph</a:t>
            </a:r>
            <a:r>
              <a:rPr lang="en-US" sz="1800">
                <a:solidFill>
                  <a:schemeClr val="dk1"/>
                </a:solidFill>
                <a:latin typeface="Times New Roman"/>
                <a:ea typeface="Times New Roman"/>
                <a:cs typeface="Times New Roman"/>
                <a:sym typeface="Times New Roman"/>
              </a:rPr>
              <a:t> is constructed to model relationships between responses.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 </a:t>
            </a:r>
            <a:r>
              <a:rPr b="1" lang="en-US" sz="1800">
                <a:solidFill>
                  <a:schemeClr val="dk1"/>
                </a:solidFill>
                <a:latin typeface="Times New Roman"/>
                <a:ea typeface="Times New Roman"/>
                <a:cs typeface="Times New Roman"/>
                <a:sym typeface="Times New Roman"/>
              </a:rPr>
              <a:t>Graph Attention Network (GAT)</a:t>
            </a:r>
            <a:r>
              <a:rPr lang="en-US" sz="1800">
                <a:solidFill>
                  <a:schemeClr val="dk1"/>
                </a:solidFill>
                <a:latin typeface="Times New Roman"/>
                <a:ea typeface="Times New Roman"/>
                <a:cs typeface="Times New Roman"/>
                <a:sym typeface="Times New Roman"/>
              </a:rPr>
              <a:t> is used to learn contextual reliability patterns and classify responses.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Multiple scoring modules (semantic similarity, SRL-based fact extraction, and black-box scorers) are fused using an </a:t>
            </a:r>
            <a:r>
              <a:rPr b="1" lang="en-US" sz="1800">
                <a:solidFill>
                  <a:schemeClr val="dk1"/>
                </a:solidFill>
                <a:latin typeface="Times New Roman"/>
                <a:ea typeface="Times New Roman"/>
                <a:cs typeface="Times New Roman"/>
                <a:sym typeface="Times New Roman"/>
              </a:rPr>
              <a:t>ensemble framework</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An </a:t>
            </a:r>
            <a:r>
              <a:rPr b="1" lang="en-US" sz="1800">
                <a:solidFill>
                  <a:schemeClr val="dk1"/>
                </a:solidFill>
                <a:latin typeface="Times New Roman"/>
                <a:ea typeface="Times New Roman"/>
                <a:cs typeface="Times New Roman"/>
                <a:sym typeface="Times New Roman"/>
              </a:rPr>
              <a:t>explainability layer</a:t>
            </a:r>
            <a:r>
              <a:rPr lang="en-US" sz="1800">
                <a:solidFill>
                  <a:schemeClr val="dk1"/>
                </a:solidFill>
                <a:latin typeface="Times New Roman"/>
                <a:ea typeface="Times New Roman"/>
                <a:cs typeface="Times New Roman"/>
                <a:sym typeface="Times New Roman"/>
              </a:rPr>
              <a:t> highlights hallucinated spans and provides interpretable outputs for end users.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Tools, Technologies and Languages</a:t>
            </a:r>
            <a:endParaRPr b="0"/>
          </a:p>
        </p:txBody>
      </p:sp>
      <p:sp>
        <p:nvSpPr>
          <p:cNvPr id="157" name="Google Shape;157;p14"/>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Development Tools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VS Code – Code development and debugging</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Jupyter Notebook – Experimentation and analysis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Visualization &amp; Explainability Tools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Matplotlib – Graph plotting and visualization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Seaborn – Statistical and performance visualization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UMAP – Dimensionality reduction and cluster visualization</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Deployment &amp; Version Control</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Git &amp; GitHub – Version control and collaboration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Streamlit – Interactive web application deployment</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Cloud / Compute Environment</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Google Colab – GPU-enabled training and testing</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CUDA – Hardware acceleration for deep learning workloads</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0" lvl="0" marL="914400" rtl="0" algn="l">
              <a:lnSpc>
                <a:spcPct val="115000"/>
              </a:lnSpc>
              <a:spcBef>
                <a:spcPts val="120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9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Tools, Technologies and Languages (cont…)</a:t>
            </a:r>
            <a:endParaRPr b="0"/>
          </a:p>
        </p:txBody>
      </p:sp>
      <p:sp>
        <p:nvSpPr>
          <p:cNvPr id="163" name="Google Shape;163;p15"/>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Programming Languages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Python – Core language for model development, data processing, and experimentation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SQL – Dataset handling, querying, and structured data management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Machine Learning &amp; Deep Learning Frameworks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PyTorch – Neural network modeling and training</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Hugging Face Transformers – Pre-trained language models and tokenization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PyTorch Geometric (PyG) – Graph-based neural network implementation</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Data Science Libraries</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NumPy – Numerical computations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Pandas – Data loading, preprocessing, and transformation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Scikit-learn – Baseline models and evaluation metrics</a:t>
            </a:r>
            <a:endParaRPr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adce7c526b_1_6"/>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Dataset</a:t>
            </a:r>
            <a:endParaRPr/>
          </a:p>
        </p:txBody>
      </p:sp>
      <p:sp>
        <p:nvSpPr>
          <p:cNvPr id="169" name="Google Shape;169;g3adce7c526b_1_6"/>
          <p:cNvSpPr txBox="1"/>
          <p:nvPr/>
        </p:nvSpPr>
        <p:spPr>
          <a:xfrm>
            <a:off x="93593" y="646231"/>
            <a:ext cx="8956800" cy="5794800"/>
          </a:xfrm>
          <a:prstGeom prst="rect">
            <a:avLst/>
          </a:prstGeom>
          <a:noFill/>
          <a:ln>
            <a:noFill/>
          </a:ln>
        </p:spPr>
        <p:txBody>
          <a:bodyPr anchorCtr="0" anchor="t" bIns="45700" lIns="91425" spcFirstLastPara="1" rIns="91425" wrap="square" tIns="45700">
            <a:noAutofit/>
          </a:bodyPr>
          <a:lstStyle/>
          <a:p>
            <a:pPr indent="0" lvl="0" marL="0" marR="0" rtl="0" algn="just">
              <a:lnSpc>
                <a:spcPct val="8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33362" lvl="0" marL="357187" marR="0" rtl="0" algn="just">
              <a:lnSpc>
                <a:spcPct val="115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dataset consists of </a:t>
            </a:r>
            <a:r>
              <a:rPr b="1" lang="en-US" sz="1800">
                <a:solidFill>
                  <a:schemeClr val="dk1"/>
                </a:solidFill>
                <a:latin typeface="Times New Roman"/>
                <a:ea typeface="Times New Roman"/>
                <a:cs typeface="Times New Roman"/>
                <a:sym typeface="Times New Roman"/>
              </a:rPr>
              <a:t>structured JSON entries</a:t>
            </a:r>
            <a:r>
              <a:rPr lang="en-US" sz="1800">
                <a:solidFill>
                  <a:schemeClr val="dk1"/>
                </a:solidFill>
                <a:latin typeface="Times New Roman"/>
                <a:ea typeface="Times New Roman"/>
                <a:cs typeface="Times New Roman"/>
                <a:sym typeface="Times New Roman"/>
              </a:rPr>
              <a:t>, each containing:</a:t>
            </a:r>
            <a:endParaRPr sz="1800">
              <a:solidFill>
                <a:schemeClr val="dk1"/>
              </a:solidFill>
              <a:latin typeface="Times New Roman"/>
              <a:ea typeface="Times New Roman"/>
              <a:cs typeface="Times New Roman"/>
              <a:sym typeface="Times New Roman"/>
            </a:endParaRPr>
          </a:p>
          <a:p>
            <a:pPr indent="-342900" lvl="1" marL="914400" marR="0" rtl="0" algn="just">
              <a:lnSpc>
                <a:spcPct val="115000"/>
              </a:lnSpc>
              <a:spcBef>
                <a:spcPts val="0"/>
              </a:spcBef>
              <a:spcAft>
                <a:spcPts val="0"/>
              </a:spcAft>
              <a:buClr>
                <a:schemeClr val="dk1"/>
              </a:buClr>
              <a:buSzPts val="1800"/>
              <a:buFont typeface="Times New Roman"/>
              <a:buChar char="○"/>
            </a:pPr>
            <a:r>
              <a:rPr b="1" lang="en-US" sz="1800">
                <a:solidFill>
                  <a:srgbClr val="188038"/>
                </a:solidFill>
                <a:latin typeface="Times New Roman"/>
                <a:ea typeface="Times New Roman"/>
                <a:cs typeface="Times New Roman"/>
                <a:sym typeface="Times New Roman"/>
              </a:rPr>
              <a:t>question</a:t>
            </a:r>
            <a:r>
              <a:rPr lang="en-US" sz="1800">
                <a:solidFill>
                  <a:schemeClr val="dk1"/>
                </a:solidFill>
                <a:latin typeface="Times New Roman"/>
                <a:ea typeface="Times New Roman"/>
                <a:cs typeface="Times New Roman"/>
                <a:sym typeface="Times New Roman"/>
              </a:rPr>
              <a:t> – a query from the user</a:t>
            </a:r>
            <a:endParaRPr sz="1800">
              <a:solidFill>
                <a:schemeClr val="dk1"/>
              </a:solidFill>
              <a:latin typeface="Times New Roman"/>
              <a:ea typeface="Times New Roman"/>
              <a:cs typeface="Times New Roman"/>
              <a:sym typeface="Times New Roman"/>
            </a:endParaRPr>
          </a:p>
          <a:p>
            <a:pPr indent="-342900" lvl="1" marL="914400" marR="0" rtl="0" algn="just">
              <a:lnSpc>
                <a:spcPct val="115000"/>
              </a:lnSpc>
              <a:spcBef>
                <a:spcPts val="0"/>
              </a:spcBef>
              <a:spcAft>
                <a:spcPts val="0"/>
              </a:spcAft>
              <a:buClr>
                <a:schemeClr val="dk1"/>
              </a:buClr>
              <a:buSzPts val="1800"/>
              <a:buFont typeface="Times New Roman"/>
              <a:buChar char="○"/>
            </a:pPr>
            <a:r>
              <a:rPr b="1" lang="en-US" sz="1800">
                <a:solidFill>
                  <a:srgbClr val="188038"/>
                </a:solidFill>
                <a:latin typeface="Times New Roman"/>
                <a:ea typeface="Times New Roman"/>
                <a:cs typeface="Times New Roman"/>
                <a:sym typeface="Times New Roman"/>
              </a:rPr>
              <a:t>id</a:t>
            </a:r>
            <a:r>
              <a:rPr lang="en-US" sz="1800">
                <a:solidFill>
                  <a:schemeClr val="dk1"/>
                </a:solidFill>
                <a:latin typeface="Times New Roman"/>
                <a:ea typeface="Times New Roman"/>
                <a:cs typeface="Times New Roman"/>
                <a:sym typeface="Times New Roman"/>
              </a:rPr>
              <a:t> – a unique identifier</a:t>
            </a:r>
            <a:endParaRPr sz="1800">
              <a:solidFill>
                <a:schemeClr val="dk1"/>
              </a:solidFill>
              <a:latin typeface="Times New Roman"/>
              <a:ea typeface="Times New Roman"/>
              <a:cs typeface="Times New Roman"/>
              <a:sym typeface="Times New Roman"/>
            </a:endParaRPr>
          </a:p>
          <a:p>
            <a:pPr indent="-342900" lvl="1" marL="914400" marR="0" rtl="0" algn="just">
              <a:lnSpc>
                <a:spcPct val="115000"/>
              </a:lnSpc>
              <a:spcBef>
                <a:spcPts val="0"/>
              </a:spcBef>
              <a:spcAft>
                <a:spcPts val="0"/>
              </a:spcAft>
              <a:buClr>
                <a:schemeClr val="dk1"/>
              </a:buClr>
              <a:buSzPts val="1800"/>
              <a:buFont typeface="Times New Roman"/>
              <a:buChar char="○"/>
            </a:pPr>
            <a:r>
              <a:rPr b="1" lang="en-US" sz="1800">
                <a:solidFill>
                  <a:srgbClr val="188038"/>
                </a:solidFill>
                <a:latin typeface="Times New Roman"/>
                <a:ea typeface="Times New Roman"/>
                <a:cs typeface="Times New Roman"/>
                <a:sym typeface="Times New Roman"/>
              </a:rPr>
              <a:t>answers</a:t>
            </a:r>
            <a:r>
              <a:rPr lang="en-US" sz="1800">
                <a:solidFill>
                  <a:schemeClr val="dk1"/>
                </a:solidFill>
                <a:latin typeface="Times New Roman"/>
                <a:ea typeface="Times New Roman"/>
                <a:cs typeface="Times New Roman"/>
                <a:sym typeface="Times New Roman"/>
              </a:rPr>
              <a:t> – model-generated responses stored under </a:t>
            </a:r>
            <a:r>
              <a:rPr lang="en-US" sz="1800">
                <a:solidFill>
                  <a:srgbClr val="188038"/>
                </a:solidFill>
                <a:latin typeface="Times New Roman"/>
                <a:ea typeface="Times New Roman"/>
                <a:cs typeface="Times New Roman"/>
                <a:sym typeface="Times New Roman"/>
              </a:rPr>
              <a:t>"text"</a:t>
            </a:r>
            <a:r>
              <a:rPr lang="en-US" sz="1800">
                <a:solidFill>
                  <a:schemeClr val="dk1"/>
                </a:solidFill>
                <a:latin typeface="Times New Roman"/>
                <a:ea typeface="Times New Roman"/>
                <a:cs typeface="Times New Roman"/>
                <a:sym typeface="Times New Roman"/>
              </a:rPr>
              <a:t> fields</a:t>
            </a:r>
            <a:endParaRPr sz="18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33362" lvl="0" marL="357187"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Here is a sample of the Dataset,it </a:t>
            </a:r>
            <a:r>
              <a:rPr lang="en-US" sz="1800">
                <a:solidFill>
                  <a:schemeClr val="dk1"/>
                </a:solidFill>
                <a:latin typeface="Times New Roman"/>
                <a:ea typeface="Times New Roman"/>
                <a:cs typeface="Times New Roman"/>
                <a:sym typeface="Times New Roman"/>
              </a:rPr>
              <a:t>includes a question with a unique ‘</a:t>
            </a:r>
            <a:r>
              <a:rPr lang="en-US" sz="1800">
                <a:solidFill>
                  <a:srgbClr val="1155CC"/>
                </a:solidFill>
                <a:latin typeface="Times New Roman"/>
                <a:ea typeface="Times New Roman"/>
                <a:cs typeface="Times New Roman"/>
                <a:sym typeface="Times New Roman"/>
              </a:rPr>
              <a:t>id</a:t>
            </a:r>
            <a:r>
              <a:rPr lang="en-US" sz="1800">
                <a:solidFill>
                  <a:schemeClr val="dk1"/>
                </a:solidFill>
                <a:latin typeface="Times New Roman"/>
                <a:ea typeface="Times New Roman"/>
                <a:cs typeface="Times New Roman"/>
                <a:sym typeface="Times New Roman"/>
              </a:rPr>
              <a:t>’ and a answer text.</a:t>
            </a:r>
            <a:endParaRPr sz="2300">
              <a:solidFill>
                <a:schemeClr val="dk1"/>
              </a:solidFill>
              <a:latin typeface="Times New Roman"/>
              <a:ea typeface="Times New Roman"/>
              <a:cs typeface="Times New Roman"/>
              <a:sym typeface="Times New Roman"/>
            </a:endParaRPr>
          </a:p>
        </p:txBody>
      </p:sp>
      <p:pic>
        <p:nvPicPr>
          <p:cNvPr id="170" name="Google Shape;170;g3adce7c526b_1_6"/>
          <p:cNvPicPr preferRelativeResize="0"/>
          <p:nvPr/>
        </p:nvPicPr>
        <p:blipFill>
          <a:blip r:embed="rId3">
            <a:alphaModFix/>
          </a:blip>
          <a:stretch>
            <a:fillRect/>
          </a:stretch>
        </p:blipFill>
        <p:spPr>
          <a:xfrm>
            <a:off x="1264688" y="2945975"/>
            <a:ext cx="6614626" cy="3148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adce7c526b_1_37"/>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Implementation</a:t>
            </a:r>
            <a:endParaRPr/>
          </a:p>
        </p:txBody>
      </p:sp>
      <p:sp>
        <p:nvSpPr>
          <p:cNvPr id="176" name="Google Shape;176;g3adce7c526b_1_37"/>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a:p>
        </p:txBody>
      </p:sp>
      <p:pic>
        <p:nvPicPr>
          <p:cNvPr id="177" name="Google Shape;177;g3adce7c526b_1_37"/>
          <p:cNvPicPr preferRelativeResize="0"/>
          <p:nvPr/>
        </p:nvPicPr>
        <p:blipFill>
          <a:blip r:embed="rId3">
            <a:alphaModFix/>
          </a:blip>
          <a:stretch>
            <a:fillRect/>
          </a:stretch>
        </p:blipFill>
        <p:spPr>
          <a:xfrm>
            <a:off x="77125" y="724675"/>
            <a:ext cx="4050276" cy="2710025"/>
          </a:xfrm>
          <a:prstGeom prst="rect">
            <a:avLst/>
          </a:prstGeom>
          <a:noFill/>
          <a:ln>
            <a:noFill/>
          </a:ln>
        </p:spPr>
      </p:pic>
      <p:sp>
        <p:nvSpPr>
          <p:cNvPr id="178" name="Google Shape;178;g3adce7c526b_1_37"/>
          <p:cNvSpPr txBox="1"/>
          <p:nvPr/>
        </p:nvSpPr>
        <p:spPr>
          <a:xfrm>
            <a:off x="77125" y="4208975"/>
            <a:ext cx="38400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Converted text responses into high-dimensional semantic vectors using transformer encoders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Stored embeddings for efficient similarity and graph processing.</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179" name="Google Shape;179;g3adce7c526b_1_37"/>
          <p:cNvPicPr preferRelativeResize="0"/>
          <p:nvPr/>
        </p:nvPicPr>
        <p:blipFill>
          <a:blip r:embed="rId4">
            <a:alphaModFix/>
          </a:blip>
          <a:stretch>
            <a:fillRect/>
          </a:stretch>
        </p:blipFill>
        <p:spPr>
          <a:xfrm>
            <a:off x="4127400" y="804225"/>
            <a:ext cx="5016600" cy="4208975"/>
          </a:xfrm>
          <a:prstGeom prst="rect">
            <a:avLst/>
          </a:prstGeom>
          <a:noFill/>
          <a:ln>
            <a:noFill/>
          </a:ln>
        </p:spPr>
      </p:pic>
      <p:sp>
        <p:nvSpPr>
          <p:cNvPr id="180" name="Google Shape;180;g3adce7c526b_1_37"/>
          <p:cNvSpPr txBox="1"/>
          <p:nvPr/>
        </p:nvSpPr>
        <p:spPr>
          <a:xfrm>
            <a:off x="4234900" y="5375725"/>
            <a:ext cx="4566600" cy="11127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Built semantic similarity graphs using k-NN based edge creation.</a:t>
            </a:r>
            <a:endParaRPr sz="17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US" sz="1700">
                <a:solidFill>
                  <a:schemeClr val="dk1"/>
                </a:solidFill>
                <a:latin typeface="Times New Roman"/>
                <a:ea typeface="Times New Roman"/>
                <a:cs typeface="Times New Roman"/>
                <a:sym typeface="Times New Roman"/>
              </a:rPr>
              <a:t>Nodes represent model responses and edges represent semantic closeness.</a:t>
            </a:r>
            <a:br>
              <a:rPr lang="en-US" sz="1700">
                <a:solidFill>
                  <a:schemeClr val="dk1"/>
                </a:solidFill>
                <a:latin typeface="Times New Roman"/>
                <a:ea typeface="Times New Roman"/>
                <a:cs typeface="Times New Roman"/>
                <a:sym typeface="Times New Roman"/>
              </a:rPr>
            </a:br>
            <a:br>
              <a:rPr lang="en-US" sz="1800">
                <a:solidFill>
                  <a:schemeClr val="dk1"/>
                </a:solidFill>
                <a:latin typeface="Helvetica Neue"/>
                <a:ea typeface="Helvetica Neue"/>
                <a:cs typeface="Helvetica Neue"/>
                <a:sym typeface="Helvetica Neue"/>
              </a:rPr>
            </a:br>
            <a:r>
              <a:rPr lang="en-US" sz="1800">
                <a:solidFill>
                  <a:schemeClr val="dk1"/>
                </a:solidFill>
                <a:latin typeface="Helvetica Neue"/>
                <a:ea typeface="Helvetica Neue"/>
                <a:cs typeface="Helvetica Neue"/>
                <a:sym typeface="Helvetica Neue"/>
              </a:rPr>
              <a:t>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adce7c526b_1_85"/>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Implementation (cont…)</a:t>
            </a:r>
            <a:endParaRPr/>
          </a:p>
        </p:txBody>
      </p:sp>
      <p:sp>
        <p:nvSpPr>
          <p:cNvPr id="186" name="Google Shape;186;g3adce7c526b_1_85"/>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a:p>
        </p:txBody>
      </p:sp>
      <p:pic>
        <p:nvPicPr>
          <p:cNvPr id="187" name="Google Shape;187;g3adce7c526b_1_85"/>
          <p:cNvPicPr preferRelativeResize="0"/>
          <p:nvPr/>
        </p:nvPicPr>
        <p:blipFill>
          <a:blip r:embed="rId3">
            <a:alphaModFix/>
          </a:blip>
          <a:stretch>
            <a:fillRect/>
          </a:stretch>
        </p:blipFill>
        <p:spPr>
          <a:xfrm>
            <a:off x="77125" y="724675"/>
            <a:ext cx="4126375" cy="4247850"/>
          </a:xfrm>
          <a:prstGeom prst="rect">
            <a:avLst/>
          </a:prstGeom>
          <a:noFill/>
          <a:ln>
            <a:noFill/>
          </a:ln>
        </p:spPr>
      </p:pic>
      <p:sp>
        <p:nvSpPr>
          <p:cNvPr id="188" name="Google Shape;188;g3adce7c526b_1_85"/>
          <p:cNvSpPr txBox="1"/>
          <p:nvPr/>
        </p:nvSpPr>
        <p:spPr>
          <a:xfrm>
            <a:off x="-79000" y="5220300"/>
            <a:ext cx="4282500" cy="1485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Trained a Graph Attention Network to learn response reliability patterns.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Used attention weights to highlight important semantic relationships.</a:t>
            </a:r>
            <a:br>
              <a:rPr lang="en-US" sz="1800">
                <a:solidFill>
                  <a:schemeClr val="dk1"/>
                </a:solidFill>
                <a:latin typeface="Helvetica Neue"/>
                <a:ea typeface="Helvetica Neue"/>
                <a:cs typeface="Helvetica Neue"/>
                <a:sym typeface="Helvetica Neue"/>
              </a:rPr>
            </a:br>
            <a:br>
              <a:rPr lang="en-US" sz="1800">
                <a:solidFill>
                  <a:schemeClr val="dk1"/>
                </a:solidFill>
                <a:latin typeface="Helvetica Neue"/>
                <a:ea typeface="Helvetica Neue"/>
                <a:cs typeface="Helvetica Neue"/>
                <a:sym typeface="Helvetica Neue"/>
              </a:rPr>
            </a:b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89" name="Google Shape;189;g3adce7c526b_1_85"/>
          <p:cNvPicPr preferRelativeResize="0"/>
          <p:nvPr/>
        </p:nvPicPr>
        <p:blipFill>
          <a:blip r:embed="rId4">
            <a:alphaModFix/>
          </a:blip>
          <a:stretch>
            <a:fillRect/>
          </a:stretch>
        </p:blipFill>
        <p:spPr>
          <a:xfrm>
            <a:off x="4588650" y="804225"/>
            <a:ext cx="4282500" cy="3390900"/>
          </a:xfrm>
          <a:prstGeom prst="rect">
            <a:avLst/>
          </a:prstGeom>
          <a:noFill/>
          <a:ln>
            <a:noFill/>
          </a:ln>
        </p:spPr>
      </p:pic>
      <p:sp>
        <p:nvSpPr>
          <p:cNvPr id="190" name="Google Shape;190;g3adce7c526b_1_85"/>
          <p:cNvSpPr txBox="1"/>
          <p:nvPr/>
        </p:nvSpPr>
        <p:spPr>
          <a:xfrm>
            <a:off x="4588650" y="4493400"/>
            <a:ext cx="4102500" cy="1805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Constructed a k-Nearest Neighbor (k-NN) graph using cosine similarity between semantic embeddings.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Built node-to-node relationships to model similarity and enable graph-based hallucination detection.</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adce7c526b_1_66"/>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Implementation (cont…)</a:t>
            </a:r>
            <a:endParaRPr/>
          </a:p>
        </p:txBody>
      </p:sp>
      <p:sp>
        <p:nvSpPr>
          <p:cNvPr id="196" name="Google Shape;196;g3adce7c526b_1_66"/>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0"/>
              </a:spcBef>
              <a:spcAft>
                <a:spcPts val="0"/>
              </a:spcAft>
              <a:buNone/>
            </a:pPr>
            <a:r>
              <a:t/>
            </a:r>
            <a:endParaRPr/>
          </a:p>
        </p:txBody>
      </p:sp>
      <p:pic>
        <p:nvPicPr>
          <p:cNvPr id="197" name="Google Shape;197;g3adce7c526b_1_66"/>
          <p:cNvPicPr preferRelativeResize="0"/>
          <p:nvPr/>
        </p:nvPicPr>
        <p:blipFill>
          <a:blip r:embed="rId3">
            <a:alphaModFix/>
          </a:blip>
          <a:stretch>
            <a:fillRect/>
          </a:stretch>
        </p:blipFill>
        <p:spPr>
          <a:xfrm>
            <a:off x="205425" y="848650"/>
            <a:ext cx="4529064" cy="4376813"/>
          </a:xfrm>
          <a:prstGeom prst="rect">
            <a:avLst/>
          </a:prstGeom>
          <a:noFill/>
          <a:ln>
            <a:noFill/>
          </a:ln>
        </p:spPr>
      </p:pic>
      <p:sp>
        <p:nvSpPr>
          <p:cNvPr id="198" name="Google Shape;198;g3adce7c526b_1_66"/>
          <p:cNvSpPr txBox="1"/>
          <p:nvPr/>
        </p:nvSpPr>
        <p:spPr>
          <a:xfrm>
            <a:off x="205425" y="5315100"/>
            <a:ext cx="3997800" cy="1137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Char char="●"/>
            </a:pPr>
            <a:r>
              <a:rPr lang="en-US" sz="1600">
                <a:solidFill>
                  <a:schemeClr val="dk1"/>
                </a:solidFill>
                <a:latin typeface="Times New Roman"/>
                <a:ea typeface="Times New Roman"/>
                <a:cs typeface="Times New Roman"/>
                <a:sym typeface="Times New Roman"/>
              </a:rPr>
              <a:t>Implemented k-NN graph construction directly in PyTorch using cosine similarity and top-k neighbor selection.</a:t>
            </a:r>
            <a:br>
              <a:rPr lang="en-US" sz="1600">
                <a:solidFill>
                  <a:schemeClr val="dk1"/>
                </a:solidFill>
                <a:latin typeface="Helvetica Neue"/>
                <a:ea typeface="Helvetica Neue"/>
                <a:cs typeface="Helvetica Neue"/>
                <a:sym typeface="Helvetica Neue"/>
              </a:rPr>
            </a:br>
            <a:endParaRPr sz="1600">
              <a:solidFill>
                <a:schemeClr val="dk1"/>
              </a:solidFill>
              <a:latin typeface="Helvetica Neue"/>
              <a:ea typeface="Helvetica Neue"/>
              <a:cs typeface="Helvetica Neue"/>
              <a:sym typeface="Helvetica Neue"/>
            </a:endParaRPr>
          </a:p>
          <a:p>
            <a:pPr indent="0" lvl="0" marL="457200" rtl="0" algn="l">
              <a:lnSpc>
                <a:spcPct val="115000"/>
              </a:lnSpc>
              <a:spcBef>
                <a:spcPts val="1200"/>
              </a:spcBef>
              <a:spcAft>
                <a:spcPts val="0"/>
              </a:spcAft>
              <a:buNone/>
            </a:pPr>
            <a:br>
              <a:rPr lang="en-US" sz="1800">
                <a:solidFill>
                  <a:schemeClr val="dk1"/>
                </a:solidFill>
                <a:latin typeface="Helvetica Neue"/>
                <a:ea typeface="Helvetica Neue"/>
                <a:cs typeface="Helvetica Neue"/>
                <a:sym typeface="Helvetica Neue"/>
              </a:rPr>
            </a:br>
            <a:endParaRPr sz="1800">
              <a:solidFill>
                <a:schemeClr val="dk1"/>
              </a:solidFill>
              <a:latin typeface="Helvetica Neue"/>
              <a:ea typeface="Helvetica Neue"/>
              <a:cs typeface="Helvetica Neue"/>
              <a:sym typeface="Helvetica Neue"/>
            </a:endParaRPr>
          </a:p>
          <a:p>
            <a:pPr indent="0" lvl="0" marL="0" rtl="0" algn="l">
              <a:spcBef>
                <a:spcPts val="120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99" name="Google Shape;199;g3adce7c526b_1_66"/>
          <p:cNvPicPr preferRelativeResize="0"/>
          <p:nvPr/>
        </p:nvPicPr>
        <p:blipFill>
          <a:blip r:embed="rId4">
            <a:alphaModFix/>
          </a:blip>
          <a:stretch>
            <a:fillRect/>
          </a:stretch>
        </p:blipFill>
        <p:spPr>
          <a:xfrm>
            <a:off x="4598325" y="804225"/>
            <a:ext cx="4329724" cy="3705000"/>
          </a:xfrm>
          <a:prstGeom prst="rect">
            <a:avLst/>
          </a:prstGeom>
          <a:noFill/>
          <a:ln>
            <a:noFill/>
          </a:ln>
        </p:spPr>
      </p:pic>
      <p:sp>
        <p:nvSpPr>
          <p:cNvPr id="200" name="Google Shape;200;g3adce7c526b_1_66"/>
          <p:cNvSpPr txBox="1"/>
          <p:nvPr/>
        </p:nvSpPr>
        <p:spPr>
          <a:xfrm>
            <a:off x="4708938" y="4762050"/>
            <a:ext cx="3824100" cy="1137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Used </a:t>
            </a:r>
            <a:r>
              <a:rPr b="1" lang="en-US" sz="1600">
                <a:solidFill>
                  <a:schemeClr val="dk1"/>
                </a:solidFill>
                <a:latin typeface="Times New Roman"/>
                <a:ea typeface="Times New Roman"/>
                <a:cs typeface="Times New Roman"/>
                <a:sym typeface="Times New Roman"/>
              </a:rPr>
              <a:t>UMAP (Uniform Manifold Approximation and Projection)</a:t>
            </a:r>
            <a:r>
              <a:rPr lang="en-US" sz="1600">
                <a:solidFill>
                  <a:schemeClr val="dk1"/>
                </a:solidFill>
                <a:latin typeface="Times New Roman"/>
                <a:ea typeface="Times New Roman"/>
                <a:cs typeface="Times New Roman"/>
                <a:sym typeface="Times New Roman"/>
              </a:rPr>
              <a:t> to reduce high-dimensional embeddings into 2D space.</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Visualized cluster separation between hallucinated and factual responses to evaluate embedding quality.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adce7c526b_1_110"/>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Experimental Results and Evaluation</a:t>
            </a:r>
            <a:endParaRPr/>
          </a:p>
        </p:txBody>
      </p:sp>
      <p:sp>
        <p:nvSpPr>
          <p:cNvPr id="206" name="Google Shape;206;g3adce7c526b_1_110"/>
          <p:cNvSpPr txBox="1"/>
          <p:nvPr/>
        </p:nvSpPr>
        <p:spPr>
          <a:xfrm>
            <a:off x="93593" y="724681"/>
            <a:ext cx="8956800" cy="579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1. Confusion Matrix</a:t>
            </a:r>
            <a:endParaRPr b="1">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Model correctly separates </a:t>
            </a:r>
            <a:r>
              <a:rPr i="1" lang="en-US" sz="1200">
                <a:solidFill>
                  <a:schemeClr val="dk1"/>
                </a:solidFill>
                <a:latin typeface="Times New Roman"/>
                <a:ea typeface="Times New Roman"/>
                <a:cs typeface="Times New Roman"/>
                <a:sym typeface="Times New Roman"/>
              </a:rPr>
              <a:t>hallucination</a:t>
            </a:r>
            <a:r>
              <a:rPr lang="en-U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i="1" lang="en-US" sz="1200">
                <a:solidFill>
                  <a:schemeClr val="dk1"/>
                </a:solidFill>
                <a:latin typeface="Times New Roman"/>
                <a:ea typeface="Times New Roman"/>
                <a:cs typeface="Times New Roman"/>
                <a:sym typeface="Times New Roman"/>
              </a:rPr>
              <a:t>partial</a:t>
            </a:r>
            <a:r>
              <a:rPr lang="en-US" sz="1200">
                <a:solidFill>
                  <a:schemeClr val="dk1"/>
                </a:solidFill>
                <a:latin typeface="Times New Roman"/>
                <a:ea typeface="Times New Roman"/>
                <a:cs typeface="Times New Roman"/>
                <a:sym typeface="Times New Roman"/>
              </a:rPr>
              <a:t>, and </a:t>
            </a:r>
            <a:r>
              <a:rPr i="1" lang="en-US" sz="1200">
                <a:solidFill>
                  <a:schemeClr val="dk1"/>
                </a:solidFill>
                <a:latin typeface="Times New Roman"/>
                <a:ea typeface="Times New Roman"/>
                <a:cs typeface="Times New Roman"/>
                <a:sym typeface="Times New Roman"/>
              </a:rPr>
              <a:t>correct</a:t>
            </a:r>
            <a:r>
              <a:rPr lang="en-US" sz="1200">
                <a:solidFill>
                  <a:schemeClr val="dk1"/>
                </a:solidFill>
                <a:latin typeface="Times New Roman"/>
                <a:ea typeface="Times New Roman"/>
                <a:cs typeface="Times New Roman"/>
                <a:sym typeface="Times New Roman"/>
              </a:rPr>
              <a:t> responses.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Shows strong accuracy for grounded answers</a:t>
            </a:r>
            <a:endParaRPr sz="12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1200">
                <a:solidFill>
                  <a:schemeClr val="dk1"/>
                </a:solidFill>
                <a:latin typeface="Times New Roman"/>
                <a:ea typeface="Times New Roman"/>
                <a:cs typeface="Times New Roman"/>
                <a:sym typeface="Times New Roman"/>
              </a:rPr>
              <a:t> and high recall for hallucinations.</a:t>
            </a:r>
            <a:endParaRPr sz="1200">
              <a:solidFill>
                <a:schemeClr val="dk1"/>
              </a:solidFill>
              <a:latin typeface="Times New Roman"/>
              <a:ea typeface="Times New Roman"/>
              <a:cs typeface="Times New Roman"/>
              <a:sym typeface="Times New Roman"/>
            </a:endParaRPr>
          </a:p>
          <a:p>
            <a:pPr indent="0" lvl="0" marL="457200" marR="0" rtl="0" algn="just">
              <a:lnSpc>
                <a:spcPct val="150000"/>
              </a:lnSpc>
              <a:spcBef>
                <a:spcPts val="1200"/>
              </a:spcBef>
              <a:spcAft>
                <a:spcPts val="0"/>
              </a:spcAft>
              <a:buNone/>
            </a:pPr>
            <a:r>
              <a:t/>
            </a:r>
            <a:endParaRPr sz="1500">
              <a:latin typeface="Times New Roman"/>
              <a:ea typeface="Times New Roman"/>
              <a:cs typeface="Times New Roman"/>
              <a:sym typeface="Times New Roman"/>
            </a:endParaRPr>
          </a:p>
        </p:txBody>
      </p:sp>
      <p:pic>
        <p:nvPicPr>
          <p:cNvPr id="207" name="Google Shape;207;g3adce7c526b_1_110"/>
          <p:cNvPicPr preferRelativeResize="0"/>
          <p:nvPr/>
        </p:nvPicPr>
        <p:blipFill>
          <a:blip r:embed="rId3">
            <a:alphaModFix/>
          </a:blip>
          <a:stretch>
            <a:fillRect/>
          </a:stretch>
        </p:blipFill>
        <p:spPr>
          <a:xfrm>
            <a:off x="77125" y="2532900"/>
            <a:ext cx="4319050" cy="3746125"/>
          </a:xfrm>
          <a:prstGeom prst="rect">
            <a:avLst/>
          </a:prstGeom>
          <a:noFill/>
          <a:ln>
            <a:noFill/>
          </a:ln>
        </p:spPr>
      </p:pic>
      <p:pic>
        <p:nvPicPr>
          <p:cNvPr id="208" name="Google Shape;208;g3adce7c526b_1_110"/>
          <p:cNvPicPr preferRelativeResize="0"/>
          <p:nvPr/>
        </p:nvPicPr>
        <p:blipFill>
          <a:blip r:embed="rId4">
            <a:alphaModFix/>
          </a:blip>
          <a:stretch>
            <a:fillRect/>
          </a:stretch>
        </p:blipFill>
        <p:spPr>
          <a:xfrm>
            <a:off x="4396175" y="2597200"/>
            <a:ext cx="4654226" cy="3681825"/>
          </a:xfrm>
          <a:prstGeom prst="rect">
            <a:avLst/>
          </a:prstGeom>
          <a:noFill/>
          <a:ln>
            <a:noFill/>
          </a:ln>
        </p:spPr>
      </p:pic>
      <p:sp>
        <p:nvSpPr>
          <p:cNvPr id="209" name="Google Shape;209;g3adce7c526b_1_110"/>
          <p:cNvSpPr txBox="1"/>
          <p:nvPr/>
        </p:nvSpPr>
        <p:spPr>
          <a:xfrm>
            <a:off x="4779588" y="724675"/>
            <a:ext cx="3887400" cy="164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latin typeface="Times New Roman"/>
                <a:ea typeface="Times New Roman"/>
                <a:cs typeface="Times New Roman"/>
                <a:sym typeface="Times New Roman"/>
              </a:rPr>
              <a:t>2. Node Degree Distribution</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Graph shows meaningful connectivity between similar responses.</a:t>
            </a:r>
            <a:br>
              <a:rPr lang="en-US" sz="1300">
                <a:solidFill>
                  <a:schemeClr val="dk1"/>
                </a:solidFill>
                <a:latin typeface="Times New Roman"/>
                <a:ea typeface="Times New Roman"/>
                <a:cs typeface="Times New Roman"/>
                <a:sym typeface="Times New Roman"/>
              </a:rPr>
            </a:b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Balanced degree distribution indicates a well-constructed similarity graph.</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adce7c526b_1_129"/>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Experimental Results and Evaluation (cont…)</a:t>
            </a:r>
            <a:endParaRPr/>
          </a:p>
        </p:txBody>
      </p:sp>
      <p:sp>
        <p:nvSpPr>
          <p:cNvPr id="215" name="Google Shape;215;g3adce7c526b_1_129"/>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900">
                <a:solidFill>
                  <a:schemeClr val="dk1"/>
                </a:solidFill>
                <a:latin typeface="Times New Roman"/>
                <a:ea typeface="Times New Roman"/>
                <a:cs typeface="Times New Roman"/>
                <a:sym typeface="Times New Roman"/>
              </a:rPr>
              <a:t>3. UMAP Before Contrastive Learning</a:t>
            </a:r>
            <a:endParaRPr b="1" sz="1900">
              <a:solidFill>
                <a:schemeClr val="dk1"/>
              </a:solidFill>
              <a:latin typeface="Times New Roman"/>
              <a:ea typeface="Times New Roman"/>
              <a:cs typeface="Times New Roman"/>
              <a:sym typeface="Times New Roman"/>
            </a:endParaRPr>
          </a:p>
          <a:p>
            <a:pPr indent="-349250" lvl="0" marL="457200" rtl="0" algn="l">
              <a:lnSpc>
                <a:spcPct val="115000"/>
              </a:lnSpc>
              <a:spcBef>
                <a:spcPts val="120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Clusters overlap → responses not clearly separated.</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Hallucinated and correct answers appear mixed</a:t>
            </a:r>
            <a:endParaRPr sz="1900">
              <a:solidFill>
                <a:schemeClr val="dk1"/>
              </a:solidFill>
              <a:latin typeface="Times New Roman"/>
              <a:ea typeface="Times New Roman"/>
              <a:cs typeface="Times New Roman"/>
              <a:sym typeface="Times New Roman"/>
            </a:endParaRPr>
          </a:p>
          <a:p>
            <a:pPr indent="0" lvl="0" marL="457200" marR="0" rtl="0" algn="just">
              <a:lnSpc>
                <a:spcPct val="150000"/>
              </a:lnSpc>
              <a:spcBef>
                <a:spcPts val="1200"/>
              </a:spcBef>
              <a:spcAft>
                <a:spcPts val="0"/>
              </a:spcAft>
              <a:buNone/>
            </a:pPr>
            <a:r>
              <a:t/>
            </a:r>
            <a:endParaRPr sz="1900">
              <a:solidFill>
                <a:schemeClr val="dk1"/>
              </a:solidFill>
              <a:latin typeface="Times New Roman"/>
              <a:ea typeface="Times New Roman"/>
              <a:cs typeface="Times New Roman"/>
              <a:sym typeface="Times New Roman"/>
            </a:endParaRPr>
          </a:p>
        </p:txBody>
      </p:sp>
      <p:pic>
        <p:nvPicPr>
          <p:cNvPr id="216" name="Google Shape;216;g3adce7c526b_1_129"/>
          <p:cNvPicPr preferRelativeResize="0"/>
          <p:nvPr/>
        </p:nvPicPr>
        <p:blipFill>
          <a:blip r:embed="rId3">
            <a:alphaModFix/>
          </a:blip>
          <a:stretch>
            <a:fillRect/>
          </a:stretch>
        </p:blipFill>
        <p:spPr>
          <a:xfrm>
            <a:off x="207363" y="2470775"/>
            <a:ext cx="8696325" cy="39458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adce7c526b_1_148"/>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Experimental Results and Evaluation (cont…)</a:t>
            </a:r>
            <a:endParaRPr/>
          </a:p>
        </p:txBody>
      </p:sp>
      <p:sp>
        <p:nvSpPr>
          <p:cNvPr id="222" name="Google Shape;222;g3adce7c526b_1_148"/>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900">
                <a:solidFill>
                  <a:schemeClr val="dk1"/>
                </a:solidFill>
                <a:latin typeface="Times New Roman"/>
                <a:ea typeface="Times New Roman"/>
                <a:cs typeface="Times New Roman"/>
                <a:sym typeface="Times New Roman"/>
              </a:rPr>
              <a:t>UMAP After Contrastive Learning</a:t>
            </a:r>
            <a:endParaRPr b="1" sz="1900">
              <a:solidFill>
                <a:schemeClr val="dk1"/>
              </a:solidFill>
              <a:latin typeface="Times New Roman"/>
              <a:ea typeface="Times New Roman"/>
              <a:cs typeface="Times New Roman"/>
              <a:sym typeface="Times New Roman"/>
            </a:endParaRPr>
          </a:p>
          <a:p>
            <a:pPr indent="-349250" lvl="0" marL="457200" rtl="0" algn="l">
              <a:lnSpc>
                <a:spcPct val="115000"/>
              </a:lnSpc>
              <a:spcBef>
                <a:spcPts val="120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Clear separation of clusters → far better distinction between truth vs. hallucination.</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Embeddings become more structured and discriminative.</a:t>
            </a:r>
            <a:endParaRPr sz="1900">
              <a:solidFill>
                <a:schemeClr val="dk1"/>
              </a:solidFill>
              <a:latin typeface="Times New Roman"/>
              <a:ea typeface="Times New Roman"/>
              <a:cs typeface="Times New Roman"/>
              <a:sym typeface="Times New Roman"/>
            </a:endParaRPr>
          </a:p>
          <a:p>
            <a:pPr indent="0" lvl="0" marL="457200" marR="0" rtl="0" algn="just">
              <a:lnSpc>
                <a:spcPct val="150000"/>
              </a:lnSpc>
              <a:spcBef>
                <a:spcPts val="1200"/>
              </a:spcBef>
              <a:spcAft>
                <a:spcPts val="0"/>
              </a:spcAft>
              <a:buNone/>
            </a:pPr>
            <a:r>
              <a:t/>
            </a:r>
            <a:endParaRPr sz="1900">
              <a:solidFill>
                <a:schemeClr val="dk1"/>
              </a:solidFill>
              <a:latin typeface="Times New Roman"/>
              <a:ea typeface="Times New Roman"/>
              <a:cs typeface="Times New Roman"/>
              <a:sym typeface="Times New Roman"/>
            </a:endParaRPr>
          </a:p>
        </p:txBody>
      </p:sp>
      <p:pic>
        <p:nvPicPr>
          <p:cNvPr id="223" name="Google Shape;223;g3adce7c526b_1_148"/>
          <p:cNvPicPr preferRelativeResize="0"/>
          <p:nvPr/>
        </p:nvPicPr>
        <p:blipFill>
          <a:blip r:embed="rId3">
            <a:alphaModFix/>
          </a:blip>
          <a:stretch>
            <a:fillRect/>
          </a:stretch>
        </p:blipFill>
        <p:spPr>
          <a:xfrm>
            <a:off x="216700" y="2502375"/>
            <a:ext cx="8362950" cy="3839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9"/>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Key Learnings</a:t>
            </a:r>
            <a:endParaRPr/>
          </a:p>
        </p:txBody>
      </p:sp>
      <p:sp>
        <p:nvSpPr>
          <p:cNvPr id="229" name="Google Shape;229;p19"/>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Developed a strong conceptual understanding of </a:t>
            </a:r>
            <a:r>
              <a:rPr b="1" lang="en-US" sz="1700">
                <a:solidFill>
                  <a:schemeClr val="dk1"/>
                </a:solidFill>
                <a:latin typeface="Times New Roman"/>
                <a:ea typeface="Times New Roman"/>
                <a:cs typeface="Times New Roman"/>
                <a:sym typeface="Times New Roman"/>
              </a:rPr>
              <a:t>LLM hallucination mechanisms</a:t>
            </a:r>
            <a:r>
              <a:rPr lang="en-US" sz="1700">
                <a:solidFill>
                  <a:schemeClr val="dk1"/>
                </a:solidFill>
                <a:latin typeface="Times New Roman"/>
                <a:ea typeface="Times New Roman"/>
                <a:cs typeface="Times New Roman"/>
                <a:sym typeface="Times New Roman"/>
              </a:rPr>
              <a:t>, including error propagation during training, distributional shift, token-level uncertainty, and decoding-induced fabrication.</a:t>
            </a:r>
            <a:endParaRPr sz="17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Learned to build a </a:t>
            </a:r>
            <a:r>
              <a:rPr b="1" lang="en-US" sz="1700">
                <a:solidFill>
                  <a:schemeClr val="dk1"/>
                </a:solidFill>
                <a:latin typeface="Times New Roman"/>
                <a:ea typeface="Times New Roman"/>
                <a:cs typeface="Times New Roman"/>
                <a:sym typeface="Times New Roman"/>
              </a:rPr>
              <a:t>complete hallucination detection pipeline</a:t>
            </a:r>
            <a:r>
              <a:rPr lang="en-US" sz="1700">
                <a:solidFill>
                  <a:schemeClr val="dk1"/>
                </a:solidFill>
                <a:latin typeface="Times New Roman"/>
                <a:ea typeface="Times New Roman"/>
                <a:cs typeface="Times New Roman"/>
                <a:sym typeface="Times New Roman"/>
              </a:rPr>
              <a:t>, integrating data generation, preprocessing, transformer-based embeddings, similarity scoring, and graph-driven analysis.</a:t>
            </a:r>
            <a:endParaRPr sz="17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Gained hands-on expertise in </a:t>
            </a:r>
            <a:r>
              <a:rPr b="1" lang="en-US" sz="1700">
                <a:solidFill>
                  <a:schemeClr val="dk1"/>
                </a:solidFill>
                <a:latin typeface="Times New Roman"/>
                <a:ea typeface="Times New Roman"/>
                <a:cs typeface="Times New Roman"/>
                <a:sym typeface="Times New Roman"/>
              </a:rPr>
              <a:t>graph machine learning</a:t>
            </a:r>
            <a:r>
              <a:rPr lang="en-US" sz="1700">
                <a:solidFill>
                  <a:schemeClr val="dk1"/>
                </a:solidFill>
                <a:latin typeface="Times New Roman"/>
                <a:ea typeface="Times New Roman"/>
                <a:cs typeface="Times New Roman"/>
                <a:sym typeface="Times New Roman"/>
              </a:rPr>
              <a:t>, including k-NN graph construction, semantic similarity networks, node degree analysis, and </a:t>
            </a:r>
            <a:r>
              <a:rPr b="1" lang="en-US" sz="1700">
                <a:solidFill>
                  <a:schemeClr val="dk1"/>
                </a:solidFill>
                <a:latin typeface="Times New Roman"/>
                <a:ea typeface="Times New Roman"/>
                <a:cs typeface="Times New Roman"/>
                <a:sym typeface="Times New Roman"/>
              </a:rPr>
              <a:t>Graph Attention Networks (GAT)</a:t>
            </a:r>
            <a:r>
              <a:rPr lang="en-US" sz="1700">
                <a:solidFill>
                  <a:schemeClr val="dk1"/>
                </a:solidFill>
                <a:latin typeface="Times New Roman"/>
                <a:ea typeface="Times New Roman"/>
                <a:cs typeface="Times New Roman"/>
                <a:sym typeface="Times New Roman"/>
              </a:rPr>
              <a:t> for classification.</a:t>
            </a:r>
            <a:endParaRPr sz="17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Explored </a:t>
            </a:r>
            <a:r>
              <a:rPr b="1" lang="en-US" sz="1700">
                <a:solidFill>
                  <a:schemeClr val="dk1"/>
                </a:solidFill>
                <a:latin typeface="Times New Roman"/>
                <a:ea typeface="Times New Roman"/>
                <a:cs typeface="Times New Roman"/>
                <a:sym typeface="Times New Roman"/>
              </a:rPr>
              <a:t>contrastive learning</a:t>
            </a:r>
            <a:r>
              <a:rPr lang="en-US" sz="1700">
                <a:solidFill>
                  <a:schemeClr val="dk1"/>
                </a:solidFill>
                <a:latin typeface="Times New Roman"/>
                <a:ea typeface="Times New Roman"/>
                <a:cs typeface="Times New Roman"/>
                <a:sym typeface="Times New Roman"/>
              </a:rPr>
              <a:t> to enhance embedding separability, improve latent space structure, and reduce overlap between factual and hallucinated clusters.</a:t>
            </a:r>
            <a:endParaRPr sz="17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Built strong evaluation skills using </a:t>
            </a:r>
            <a:r>
              <a:rPr b="1" lang="en-US" sz="1700">
                <a:solidFill>
                  <a:schemeClr val="dk1"/>
                </a:solidFill>
                <a:latin typeface="Times New Roman"/>
                <a:ea typeface="Times New Roman"/>
                <a:cs typeface="Times New Roman"/>
                <a:sym typeface="Times New Roman"/>
              </a:rPr>
              <a:t>F1 Score, Recall (Hallucination Class), Confusion Matrix, UMAP dimensionality reduction</a:t>
            </a:r>
            <a:r>
              <a:rPr lang="en-US" sz="1700">
                <a:solidFill>
                  <a:schemeClr val="dk1"/>
                </a:solidFill>
                <a:latin typeface="Times New Roman"/>
                <a:ea typeface="Times New Roman"/>
                <a:cs typeface="Times New Roman"/>
                <a:sym typeface="Times New Roman"/>
              </a:rPr>
              <a:t>, and interpretability techniques for model diagnostics.</a:t>
            </a:r>
            <a:endParaRPr sz="17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Strengthened our ability to conduct systematic research, benchmark multiple scorers (black-box, white-box, SRL-based), and perform </a:t>
            </a:r>
            <a:r>
              <a:rPr b="1" lang="en-US" sz="1700">
                <a:solidFill>
                  <a:schemeClr val="dk1"/>
                </a:solidFill>
                <a:latin typeface="Times New Roman"/>
                <a:ea typeface="Times New Roman"/>
                <a:cs typeface="Times New Roman"/>
                <a:sym typeface="Times New Roman"/>
              </a:rPr>
              <a:t>ensemble-level fusion</a:t>
            </a:r>
            <a:r>
              <a:rPr lang="en-US" sz="1700">
                <a:solidFill>
                  <a:schemeClr val="dk1"/>
                </a:solidFill>
                <a:latin typeface="Times New Roman"/>
                <a:ea typeface="Times New Roman"/>
                <a:cs typeface="Times New Roman"/>
                <a:sym typeface="Times New Roman"/>
              </a:rPr>
              <a:t> for robust factuality assessment.</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marR="0" rtl="0" algn="just">
              <a:lnSpc>
                <a:spcPct val="150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a:t>Work Contribution and Attendance</a:t>
            </a:r>
            <a:endParaRPr b="0"/>
          </a:p>
        </p:txBody>
      </p:sp>
      <p:sp>
        <p:nvSpPr>
          <p:cNvPr id="235" name="Google Shape;235;p22"/>
          <p:cNvSpPr txBox="1"/>
          <p:nvPr/>
        </p:nvSpPr>
        <p:spPr>
          <a:xfrm>
            <a:off x="77118" y="804231"/>
            <a:ext cx="8956714" cy="5172419"/>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36" name="Google Shape;236;p22"/>
          <p:cNvGraphicFramePr/>
          <p:nvPr/>
        </p:nvGraphicFramePr>
        <p:xfrm>
          <a:off x="97831" y="724550"/>
          <a:ext cx="3000000" cy="3000000"/>
        </p:xfrm>
        <a:graphic>
          <a:graphicData uri="http://schemas.openxmlformats.org/drawingml/2006/table">
            <a:tbl>
              <a:tblPr bandRow="1" firstRow="1">
                <a:noFill/>
                <a:tableStyleId>{377F1409-8902-4A2D-BE7C-06FC4102EE46}</a:tableStyleId>
              </a:tblPr>
              <a:tblGrid>
                <a:gridCol w="801275"/>
                <a:gridCol w="879050"/>
                <a:gridCol w="4265400"/>
                <a:gridCol w="1139000"/>
                <a:gridCol w="786550"/>
                <a:gridCol w="1044000"/>
              </a:tblGrid>
              <a:tr h="493525">
                <a:tc gridSpan="6">
                  <a:txBody>
                    <a:bodyPr/>
                    <a:lstStyle/>
                    <a:p>
                      <a:pPr indent="0" lvl="0" marL="0" marR="0" rtl="0" algn="l">
                        <a:spcBef>
                          <a:spcPts val="0"/>
                        </a:spcBef>
                        <a:spcAft>
                          <a:spcPts val="0"/>
                        </a:spcAft>
                        <a:buNone/>
                      </a:pPr>
                      <a:r>
                        <a:rPr b="1" i="0" lang="en-US" sz="1300">
                          <a:solidFill>
                            <a:schemeClr val="dk1"/>
                          </a:solidFill>
                          <a:latin typeface="Helvetica Neue"/>
                          <a:ea typeface="Helvetica Neue"/>
                          <a:cs typeface="Helvetica Neue"/>
                          <a:sym typeface="Helvetica Neue"/>
                        </a:rPr>
                        <a:t>GitHub Repository URL:  </a:t>
                      </a:r>
                      <a:r>
                        <a:rPr b="0" i="0" lang="en-US" sz="1300">
                          <a:solidFill>
                            <a:srgbClr val="006699"/>
                          </a:solidFill>
                          <a:latin typeface="Helvetica Neue"/>
                          <a:ea typeface="Helvetica Neue"/>
                          <a:cs typeface="Helvetica Neue"/>
                          <a:sym typeface="Helvetica Neue"/>
                        </a:rPr>
                        <a:t>https://github.com/Anandx3505/AI-Hallucination-Detector/</a:t>
                      </a:r>
                      <a:endParaRPr b="0">
                        <a:solidFill>
                          <a:srgbClr val="006699"/>
                        </a:solidFill>
                      </a:endParaRPr>
                    </a:p>
                  </a:txBody>
                  <a:tcPr marT="45725" marB="45725" marR="91450" marL="91450" anchor="ctr">
                    <a:solidFill>
                      <a:srgbClr val="D5D59B"/>
                    </a:solidFill>
                  </a:tcPr>
                </a:tc>
                <a:tc hMerge="1"/>
                <a:tc hMerge="1"/>
                <a:tc hMerge="1"/>
                <a:tc hMerge="1"/>
                <a:tc hMerge="1"/>
              </a:tr>
              <a:tr h="667050">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Team Member</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Roll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Work Done</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(provide complete details)</a:t>
                      </a:r>
                      <a:endParaRPr/>
                    </a:p>
                  </a:txBody>
                  <a:tcPr marT="45725" marB="45725" marR="91450" marL="91450">
                    <a:solidFill>
                      <a:srgbClr val="D5D59B"/>
                    </a:solidFill>
                  </a:tcPr>
                </a:tc>
                <a:tc>
                  <a:txBody>
                    <a:bodyPr/>
                    <a:lstStyle/>
                    <a:p>
                      <a:pPr indent="0" lvl="0" marL="0" marR="0" rtl="0" algn="ctr">
                        <a:lnSpc>
                          <a:spcPct val="100000"/>
                        </a:lnSpc>
                        <a:spcBef>
                          <a:spcPts val="0"/>
                        </a:spcBef>
                        <a:spcAft>
                          <a:spcPts val="0"/>
                        </a:spcAft>
                        <a:buClr>
                          <a:schemeClr val="dk1"/>
                        </a:buClr>
                        <a:buSzPts val="1300"/>
                        <a:buFont typeface="Helvetica Neue"/>
                        <a:buNone/>
                      </a:pPr>
                      <a:r>
                        <a:rPr b="0" i="0" lang="en-US" sz="1300">
                          <a:solidFill>
                            <a:schemeClr val="dk1"/>
                          </a:solidFill>
                          <a:latin typeface="Helvetica Neue"/>
                          <a:ea typeface="Helvetica Neue"/>
                          <a:cs typeface="Helvetica Neue"/>
                          <a:sym typeface="Helvetica Neue"/>
                        </a:rPr>
                        <a:t>Work Contribution (%)</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Lines of Code</a:t>
                      </a:r>
                      <a:endParaRPr/>
                    </a:p>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(if any)</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US" sz="1300">
                          <a:solidFill>
                            <a:schemeClr val="dk1"/>
                          </a:solidFill>
                          <a:latin typeface="Helvetica Neue"/>
                          <a:ea typeface="Helvetica Neue"/>
                          <a:cs typeface="Helvetica Neue"/>
                          <a:sym typeface="Helvetica Neue"/>
                        </a:rPr>
                        <a:t>Lab Attendance (%)</a:t>
                      </a:r>
                      <a:endParaRPr/>
                    </a:p>
                  </a:txBody>
                  <a:tcPr marT="45725" marB="45725" marR="91450" marL="91450">
                    <a:solidFill>
                      <a:srgbClr val="D5D59B"/>
                    </a:solidFill>
                  </a:tcPr>
                </a:tc>
              </a:tr>
              <a:tr h="1259975">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1.</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221030055</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Contributed to dataset creation, response generation, and cleaning for building a reliable hallucination dataset.</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Helped in evaluating the model through confusion matrix, UMAP plots, and interpreting the results.</a:t>
                      </a:r>
                      <a:endParaRPr sz="1300">
                        <a:latin typeface="Times New Roman"/>
                        <a:ea typeface="Times New Roman"/>
                        <a:cs typeface="Times New Roman"/>
                        <a:sym typeface="Times New Roman"/>
                      </a:endParaRPr>
                    </a:p>
                    <a:p>
                      <a:pPr indent="-88900" lvl="0" marL="171450" marR="0" rtl="0" algn="l">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25%</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100%</a:t>
                      </a:r>
                      <a:endParaRPr i="0">
                        <a:latin typeface="Times New Roman"/>
                        <a:ea typeface="Times New Roman"/>
                        <a:cs typeface="Times New Roman"/>
                        <a:sym typeface="Times New Roman"/>
                      </a:endParaRPr>
                    </a:p>
                  </a:txBody>
                  <a:tcPr marT="45725" marB="45725" marR="91450" marL="91450">
                    <a:solidFill>
                      <a:srgbClr val="F4F9ED"/>
                    </a:solidFill>
                  </a:tcPr>
                </a:tc>
              </a:tr>
              <a:tr h="1491675">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221030123</a:t>
                      </a:r>
                      <a:endParaRPr i="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l">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Worked on embedding generation and graph construction (threshold + k-NN) along with other team members.</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Took part in implementing GAT and baseline models and tuning them for better accuracy.</a:t>
                      </a:r>
                      <a:endParaRPr sz="13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25%</a:t>
                      </a:r>
                      <a:endParaRPr i="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100%</a:t>
                      </a:r>
                      <a:endParaRPr i="0">
                        <a:latin typeface="Times New Roman"/>
                        <a:ea typeface="Times New Roman"/>
                        <a:cs typeface="Times New Roman"/>
                        <a:sym typeface="Times New Roman"/>
                      </a:endParaRPr>
                    </a:p>
                  </a:txBody>
                  <a:tcPr marT="45725" marB="45725" marR="91450" marL="91450">
                    <a:solidFill>
                      <a:srgbClr val="F0F0DD"/>
                    </a:solidFill>
                  </a:tcPr>
                </a:tc>
              </a:tr>
              <a:tr h="94645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3.</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221030004</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1150" lvl="0" marL="457200" rtl="0" algn="l">
                        <a:lnSpc>
                          <a:spcPct val="115000"/>
                        </a:lnSpc>
                        <a:spcBef>
                          <a:spcPts val="0"/>
                        </a:spcBef>
                        <a:spcAft>
                          <a:spcPts val="0"/>
                        </a:spcAft>
                        <a:buSzPts val="1300"/>
                        <a:buFont typeface="Times New Roman"/>
                        <a:buChar char="●"/>
                      </a:pPr>
                      <a:r>
                        <a:rPr lang="en-US" sz="1300">
                          <a:latin typeface="Times New Roman"/>
                          <a:ea typeface="Times New Roman"/>
                          <a:cs typeface="Times New Roman"/>
                          <a:sym typeface="Times New Roman"/>
                        </a:rPr>
                        <a:t>Collaborated in building the complete pipeline: data → embeddings → graph → model training.</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US" sz="1300">
                          <a:latin typeface="Times New Roman"/>
                          <a:ea typeface="Times New Roman"/>
                          <a:cs typeface="Times New Roman"/>
                          <a:sym typeface="Times New Roman"/>
                        </a:rPr>
                        <a:t>Contributed to integrating scorers like semantic similarity and SRL-based fact extraction.</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25%</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100%</a:t>
                      </a:r>
                      <a:endParaRPr i="0">
                        <a:latin typeface="Times New Roman"/>
                        <a:ea typeface="Times New Roman"/>
                        <a:cs typeface="Times New Roman"/>
                        <a:sym typeface="Times New Roman"/>
                      </a:endParaRPr>
                    </a:p>
                  </a:txBody>
                  <a:tcPr marT="45725" marB="45725" marR="91450" marL="91450">
                    <a:solidFill>
                      <a:srgbClr val="F4F9ED"/>
                    </a:solidFill>
                  </a:tcPr>
                </a:tc>
              </a:tr>
              <a:tr h="1274775">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4.</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221030059</a:t>
                      </a:r>
                      <a:endParaRPr>
                        <a:latin typeface="Times New Roman"/>
                        <a:ea typeface="Times New Roman"/>
                        <a:cs typeface="Times New Roman"/>
                        <a:sym typeface="Times New Roman"/>
                      </a:endParaRPr>
                    </a:p>
                    <a:p>
                      <a:pPr indent="0" lvl="0" marL="0" marR="0" rtl="0" algn="ctr">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l">
                        <a:spcBef>
                          <a:spcPts val="0"/>
                        </a:spcBef>
                        <a:spcAft>
                          <a:spcPts val="0"/>
                        </a:spcAft>
                        <a:buNone/>
                      </a:pPr>
                      <a:r>
                        <a:t/>
                      </a:r>
                      <a:endParaRPr sz="15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Participated in designing the system workflow and integrating different modules into one flow.</a:t>
                      </a:r>
                      <a:endParaRPr sz="1300">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sz="1300">
                          <a:latin typeface="Times New Roman"/>
                          <a:ea typeface="Times New Roman"/>
                          <a:cs typeface="Times New Roman"/>
                          <a:sym typeface="Times New Roman"/>
                        </a:rPr>
                        <a:t>Worked on ensemble scoring and supported in improving interpretability and explanation of hallucinated parts.</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25%</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t/>
                      </a:r>
                      <a:endParaRPr i="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100%</a:t>
                      </a:r>
                      <a:endParaRPr i="0">
                        <a:latin typeface="Times New Roman"/>
                        <a:ea typeface="Times New Roman"/>
                        <a:cs typeface="Times New Roman"/>
                        <a:sym typeface="Times New Roman"/>
                      </a:endParaRPr>
                    </a:p>
                  </a:txBody>
                  <a:tcPr marT="45725" marB="45725" marR="91450" marL="91450">
                    <a:solidFill>
                      <a:srgbClr val="F4F9ED"/>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Supervisor </a:t>
            </a:r>
            <a:r>
              <a:rPr lang="en-US"/>
              <a:t>Interactions </a:t>
            </a:r>
            <a:r>
              <a:rPr b="0" lang="en-US"/>
              <a:t>(as mentioned in weekly log)</a:t>
            </a:r>
            <a:endParaRPr b="0"/>
          </a:p>
        </p:txBody>
      </p:sp>
      <p:sp>
        <p:nvSpPr>
          <p:cNvPr id="242" name="Google Shape;242;p23"/>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43" name="Google Shape;243;p23"/>
          <p:cNvGraphicFramePr/>
          <p:nvPr/>
        </p:nvGraphicFramePr>
        <p:xfrm>
          <a:off x="137706" y="766875"/>
          <a:ext cx="3000000" cy="3000000"/>
        </p:xfrm>
        <a:graphic>
          <a:graphicData uri="http://schemas.openxmlformats.org/drawingml/2006/table">
            <a:tbl>
              <a:tblPr bandRow="1" firstRow="1">
                <a:noFill/>
                <a:tableStyleId>{377F1409-8902-4A2D-BE7C-06FC4102EE46}</a:tableStyleId>
              </a:tblPr>
              <a:tblGrid>
                <a:gridCol w="651825"/>
                <a:gridCol w="1364250"/>
                <a:gridCol w="5596575"/>
                <a:gridCol w="1222875"/>
              </a:tblGrid>
              <a:tr h="414050">
                <a:tc gridSpan="4">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No. of Meetings with Supervisor: </a:t>
                      </a:r>
                      <a:endParaRPr sz="1600">
                        <a:latin typeface="Times New Roman"/>
                        <a:ea typeface="Times New Roman"/>
                        <a:cs typeface="Times New Roman"/>
                        <a:sym typeface="Times New Roman"/>
                      </a:endParaRPr>
                    </a:p>
                  </a:txBody>
                  <a:tcPr marT="45725" marB="45725" marR="91450" marL="91450" anchor="ctr">
                    <a:solidFill>
                      <a:srgbClr val="D5D59B"/>
                    </a:solidFill>
                  </a:tcPr>
                </a:tc>
                <a:tc hMerge="1"/>
                <a:tc hMerge="1"/>
                <a:tc hMerge="1"/>
              </a:tr>
              <a:tr h="507400">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Week No.</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Duration</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Remarks (</a:t>
                      </a:r>
                      <a:r>
                        <a:rPr b="1" i="0" lang="en-US" sz="1500">
                          <a:solidFill>
                            <a:schemeClr val="dk1"/>
                          </a:solidFill>
                          <a:latin typeface="Times New Roman"/>
                          <a:ea typeface="Times New Roman"/>
                          <a:cs typeface="Times New Roman"/>
                          <a:sym typeface="Times New Roman"/>
                        </a:rPr>
                        <a:t>as mentioned in the weekly log</a:t>
                      </a:r>
                      <a:r>
                        <a:rPr i="0" lang="en-US" sz="1500">
                          <a:solidFill>
                            <a:schemeClr val="dk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Incorporated</a:t>
                      </a:r>
                      <a:endParaRPr sz="1600">
                        <a:latin typeface="Times New Roman"/>
                        <a:ea typeface="Times New Roman"/>
                        <a:cs typeface="Times New Roman"/>
                        <a:sym typeface="Times New Roman"/>
                      </a:endParaRPr>
                    </a:p>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(Yes/No)</a:t>
                      </a:r>
                      <a:endParaRPr sz="1600">
                        <a:latin typeface="Times New Roman"/>
                        <a:ea typeface="Times New Roman"/>
                        <a:cs typeface="Times New Roman"/>
                        <a:sym typeface="Times New Roman"/>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1.</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18/08/2025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25/08/2025</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rtl="0" algn="l">
                        <a:lnSpc>
                          <a:spcPct val="115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Finalized project </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Read about Illusion of Reasoning</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26/08/2025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29/08/2025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l">
                        <a:lnSpc>
                          <a:spcPct val="115000"/>
                        </a:lnSpc>
                        <a:spcBef>
                          <a:spcPts val="0"/>
                        </a:spcBef>
                        <a:spcAft>
                          <a:spcPts val="0"/>
                        </a:spcAft>
                        <a:buNone/>
                      </a:pPr>
                      <a:r>
                        <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Instructed the team to research for suitable public datasets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Tasked each member to do an in-depth review of one specific paper.</a:t>
                      </a:r>
                      <a:endParaRPr>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3.</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30/08/2025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03/09/2025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marR="0" rtl="0" algn="l">
                        <a:spcBef>
                          <a:spcPts val="0"/>
                        </a:spcBef>
                        <a:spcAft>
                          <a:spcPts val="0"/>
                        </a:spcAft>
                        <a:buSzPts val="1400"/>
                        <a:buFont typeface="Times New Roman"/>
                        <a:buChar char="●"/>
                      </a:pPr>
                      <a:r>
                        <a:rPr lang="en-US">
                          <a:latin typeface="Times New Roman"/>
                          <a:ea typeface="Times New Roman"/>
                          <a:cs typeface="Times New Roman"/>
                          <a:sym typeface="Times New Roman"/>
                        </a:rPr>
                        <a:t>More research needs to be done.</a:t>
                      </a:r>
                      <a:endParaRPr>
                        <a:latin typeface="Times New Roman"/>
                        <a:ea typeface="Times New Roman"/>
                        <a:cs typeface="Times New Roman"/>
                        <a:sym typeface="Times New Roman"/>
                      </a:endParaRPr>
                    </a:p>
                    <a:p>
                      <a:pPr indent="-317500" lvl="0" marL="457200" marR="0" rtl="0" algn="l">
                        <a:spcBef>
                          <a:spcPts val="0"/>
                        </a:spcBef>
                        <a:spcAft>
                          <a:spcPts val="0"/>
                        </a:spcAft>
                        <a:buSzPts val="1400"/>
                        <a:buFont typeface="Times New Roman"/>
                        <a:buChar char="●"/>
                      </a:pPr>
                      <a:r>
                        <a:rPr lang="en-US">
                          <a:latin typeface="Times New Roman"/>
                          <a:ea typeface="Times New Roman"/>
                          <a:cs typeface="Times New Roman"/>
                          <a:sym typeface="Times New Roman"/>
                        </a:rPr>
                        <a:t>Find out which tech stack you will use.</a:t>
                      </a:r>
                      <a:endParaRPr>
                        <a:latin typeface="Times New Roman"/>
                        <a:ea typeface="Times New Roman"/>
                        <a:cs typeface="Times New Roman"/>
                        <a:sym typeface="Times New Roman"/>
                      </a:endParaRPr>
                    </a:p>
                    <a:p>
                      <a:pPr indent="0" lvl="0" marL="457200" marR="0" rtl="0" algn="l">
                        <a:spcBef>
                          <a:spcPts val="0"/>
                        </a:spcBef>
                        <a:spcAft>
                          <a:spcPts val="0"/>
                        </a:spcAft>
                        <a:buNone/>
                      </a:pPr>
                      <a:r>
                        <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4.</a:t>
                      </a:r>
                      <a:endParaRPr sz="15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15/09/2025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19/09/2025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Found the expanded list of 20 research papers for the literature survey.</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Advised on the structure for the Mid-Term presentation</a:t>
                      </a:r>
                      <a:endParaRPr>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i="0" lang="en-US">
                          <a:latin typeface="Times New Roman"/>
                          <a:ea typeface="Times New Roman"/>
                          <a:cs typeface="Times New Roman"/>
                          <a:sym typeface="Times New Roman"/>
                        </a:rPr>
                        <a:t>5.</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20/09/2025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27/09/2025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Finalized the technical design</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Good work till now</a:t>
                      </a:r>
                      <a:endParaRPr>
                        <a:latin typeface="Times New Roman"/>
                        <a:ea typeface="Times New Roman"/>
                        <a:cs typeface="Times New Roman"/>
                        <a:sym typeface="Times New Roman"/>
                      </a:endParaRPr>
                    </a:p>
                    <a:p>
                      <a:pPr indent="0" lvl="0" marL="457200" marR="0" rtl="0" algn="l">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Supervisor </a:t>
            </a:r>
            <a:r>
              <a:rPr lang="en-US"/>
              <a:t>Interactions</a:t>
            </a:r>
            <a:r>
              <a:rPr lang="en-US" sz="2400"/>
              <a:t> </a:t>
            </a:r>
            <a:r>
              <a:rPr b="0" lang="en-US" sz="2400"/>
              <a:t>(cont…)</a:t>
            </a:r>
            <a:endParaRPr b="0"/>
          </a:p>
        </p:txBody>
      </p:sp>
      <p:sp>
        <p:nvSpPr>
          <p:cNvPr id="249" name="Google Shape;249;p24"/>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Supervisor </a:t>
            </a:r>
            <a:r>
              <a:rPr lang="en-US"/>
              <a:t>Interactions </a:t>
            </a:r>
            <a:r>
              <a:rPr b="0" lang="en-US"/>
              <a:t>(as mentioned in weekly log)</a:t>
            </a:r>
            <a:endParaRPr b="0"/>
          </a:p>
        </p:txBody>
      </p:sp>
      <p:sp>
        <p:nvSpPr>
          <p:cNvPr id="250" name="Google Shape;250;p24"/>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251" name="Google Shape;251;p24"/>
          <p:cNvGraphicFramePr/>
          <p:nvPr/>
        </p:nvGraphicFramePr>
        <p:xfrm>
          <a:off x="137706" y="766875"/>
          <a:ext cx="3000000" cy="3000000"/>
        </p:xfrm>
        <a:graphic>
          <a:graphicData uri="http://schemas.openxmlformats.org/drawingml/2006/table">
            <a:tbl>
              <a:tblPr bandRow="1" firstRow="1">
                <a:noFill/>
                <a:tableStyleId>{377F1409-8902-4A2D-BE7C-06FC4102EE46}</a:tableStyleId>
              </a:tblPr>
              <a:tblGrid>
                <a:gridCol w="651825"/>
                <a:gridCol w="1364250"/>
                <a:gridCol w="5596575"/>
                <a:gridCol w="1222875"/>
              </a:tblGrid>
              <a:tr h="414050">
                <a:tc gridSpan="4">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No. of Meetings with Supervisor: </a:t>
                      </a:r>
                      <a:endParaRPr sz="1600">
                        <a:latin typeface="Times New Roman"/>
                        <a:ea typeface="Times New Roman"/>
                        <a:cs typeface="Times New Roman"/>
                        <a:sym typeface="Times New Roman"/>
                      </a:endParaRPr>
                    </a:p>
                  </a:txBody>
                  <a:tcPr marT="45725" marB="45725" marR="91450" marL="91450" anchor="ctr">
                    <a:solidFill>
                      <a:srgbClr val="D5D59B"/>
                    </a:solidFill>
                  </a:tcPr>
                </a:tc>
                <a:tc hMerge="1"/>
                <a:tc hMerge="1"/>
                <a:tc hMerge="1"/>
              </a:tr>
              <a:tr h="507400">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Week No.</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Duration</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Remarks (</a:t>
                      </a:r>
                      <a:r>
                        <a:rPr b="1" i="0" lang="en-US" sz="1500">
                          <a:solidFill>
                            <a:schemeClr val="dk1"/>
                          </a:solidFill>
                          <a:latin typeface="Times New Roman"/>
                          <a:ea typeface="Times New Roman"/>
                          <a:cs typeface="Times New Roman"/>
                          <a:sym typeface="Times New Roman"/>
                        </a:rPr>
                        <a:t>as mentioned in the weekly log</a:t>
                      </a:r>
                      <a:r>
                        <a:rPr i="0" lang="en-US" sz="1500">
                          <a:solidFill>
                            <a:schemeClr val="dk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45725" marB="45725" marR="91450" marL="91450">
                    <a:solidFill>
                      <a:srgbClr val="D5D59B"/>
                    </a:solidFill>
                  </a:tcPr>
                </a:tc>
                <a:tc>
                  <a:txBody>
                    <a:bodyPr/>
                    <a:lstStyle/>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Incorporated</a:t>
                      </a:r>
                      <a:endParaRPr sz="1600">
                        <a:latin typeface="Times New Roman"/>
                        <a:ea typeface="Times New Roman"/>
                        <a:cs typeface="Times New Roman"/>
                        <a:sym typeface="Times New Roman"/>
                      </a:endParaRPr>
                    </a:p>
                    <a:p>
                      <a:pPr indent="0" lvl="0" marL="0" marR="0" rtl="0" algn="ctr">
                        <a:spcBef>
                          <a:spcPts val="0"/>
                        </a:spcBef>
                        <a:spcAft>
                          <a:spcPts val="0"/>
                        </a:spcAft>
                        <a:buNone/>
                      </a:pPr>
                      <a:r>
                        <a:rPr i="0" lang="en-US" sz="1500">
                          <a:solidFill>
                            <a:schemeClr val="dk1"/>
                          </a:solidFill>
                          <a:latin typeface="Times New Roman"/>
                          <a:ea typeface="Times New Roman"/>
                          <a:cs typeface="Times New Roman"/>
                          <a:sym typeface="Times New Roman"/>
                        </a:rPr>
                        <a:t>(Yes/No)</a:t>
                      </a:r>
                      <a:endParaRPr sz="1600">
                        <a:latin typeface="Times New Roman"/>
                        <a:ea typeface="Times New Roman"/>
                        <a:cs typeface="Times New Roman"/>
                        <a:sym typeface="Times New Roman"/>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6</a:t>
                      </a:r>
                      <a:r>
                        <a:rPr i="0" lang="en-US">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27</a:t>
                      </a:r>
                      <a:r>
                        <a:rPr lang="en-US">
                          <a:latin typeface="Times New Roman"/>
                          <a:ea typeface="Times New Roman"/>
                          <a:cs typeface="Times New Roman"/>
                          <a:sym typeface="Times New Roman"/>
                        </a:rPr>
                        <a:t>/09/2025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31/09/2025</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rtl="0" algn="l">
                        <a:lnSpc>
                          <a:spcPct val="115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Designed dataset creation strategy for hallucination detection.</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Implemented data preprocessing and text cleaning pipeline</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7</a:t>
                      </a:r>
                      <a:r>
                        <a:rPr i="0" lang="en-US">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03</a:t>
                      </a:r>
                      <a:r>
                        <a:rPr lang="en-US">
                          <a:latin typeface="Times New Roman"/>
                          <a:ea typeface="Times New Roman"/>
                          <a:cs typeface="Times New Roman"/>
                          <a:sym typeface="Times New Roman"/>
                        </a:rPr>
                        <a:t>/11/2025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07/11/2025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l">
                        <a:lnSpc>
                          <a:spcPct val="115000"/>
                        </a:lnSpc>
                        <a:spcBef>
                          <a:spcPts val="0"/>
                        </a:spcBef>
                        <a:spcAft>
                          <a:spcPts val="0"/>
                        </a:spcAft>
                        <a:buNone/>
                      </a:pPr>
                      <a:r>
                        <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Built semantic embeddings and k-NN based similarity graphs.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Implemented baseline and GAT-based models.</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0F0DD"/>
                    </a:solidFill>
                  </a:tcPr>
                </a:tc>
              </a:tr>
              <a:tr h="828000">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8</a:t>
                      </a:r>
                      <a:r>
                        <a:rPr i="0" lang="en-US">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10</a:t>
                      </a:r>
                      <a:r>
                        <a:rPr lang="en-US">
                          <a:latin typeface="Times New Roman"/>
                          <a:ea typeface="Times New Roman"/>
                          <a:cs typeface="Times New Roman"/>
                          <a:sym typeface="Times New Roman"/>
                        </a:rPr>
                        <a:t>/11/2025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14/11/2025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Visualized embeddings using UMAP before and aft</a:t>
                      </a:r>
                      <a:r>
                        <a:rPr lang="en-US">
                          <a:latin typeface="Times New Roman"/>
                          <a:ea typeface="Times New Roman"/>
                          <a:cs typeface="Times New Roman"/>
                          <a:sym typeface="Times New Roman"/>
                        </a:rPr>
                        <a:t>er </a:t>
                      </a:r>
                      <a:r>
                        <a:rPr lang="en-US">
                          <a:latin typeface="Times New Roman"/>
                          <a:ea typeface="Times New Roman"/>
                          <a:cs typeface="Times New Roman"/>
                          <a:sym typeface="Times New Roman"/>
                        </a:rPr>
                        <a:t>contrastive learning.</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Integrated multi-scorer framework (SRL, black-box, white-box)</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9</a:t>
                      </a:r>
                      <a:r>
                        <a:rPr i="0" lang="en-US">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17/11/2025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21/11/2025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Developed explainability module for highlighting hallucinated text.</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Completed full pipeline from input to output generation.</a:t>
                      </a:r>
                      <a:endParaRPr>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0F0DD"/>
                    </a:solidFill>
                  </a:tcPr>
                </a:tc>
              </a:tr>
              <a:tr h="918750">
                <a:tc>
                  <a:txBody>
                    <a:bodyPr/>
                    <a:lstStyle/>
                    <a:p>
                      <a:pPr indent="0" lvl="0" marL="0" marR="0" rtl="0" algn="ctr">
                        <a:spcBef>
                          <a:spcPts val="0"/>
                        </a:spcBef>
                        <a:spcAft>
                          <a:spcPts val="0"/>
                        </a:spcAft>
                        <a:buNone/>
                      </a:pPr>
                      <a:r>
                        <a:rPr lang="en-US">
                          <a:latin typeface="Times New Roman"/>
                          <a:ea typeface="Times New Roman"/>
                          <a:cs typeface="Times New Roman"/>
                          <a:sym typeface="Times New Roman"/>
                        </a:rPr>
                        <a:t>10</a:t>
                      </a:r>
                      <a:r>
                        <a:rPr i="0" lang="en-US">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24</a:t>
                      </a:r>
                      <a:r>
                        <a:rPr lang="en-US">
                          <a:latin typeface="Times New Roman"/>
                          <a:ea typeface="Times New Roman"/>
                          <a:cs typeface="Times New Roman"/>
                          <a:sym typeface="Times New Roman"/>
                        </a:rPr>
                        <a:t>/11/2025</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28/11/2025</a:t>
                      </a:r>
                      <a:endParaRPr>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300"/>
                        <a:buFont typeface="Helvetica Neue"/>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Verified robustness of the model using edge-case prompts.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US">
                          <a:latin typeface="Times New Roman"/>
                          <a:ea typeface="Times New Roman"/>
                          <a:cs typeface="Times New Roman"/>
                          <a:sym typeface="Times New Roman"/>
                        </a:rPr>
                        <a:t>Finalized visualization formats for graphs and performance charts.</a:t>
                      </a:r>
                      <a:endParaRPr>
                        <a:latin typeface="Times New Roman"/>
                        <a:ea typeface="Times New Roman"/>
                        <a:cs typeface="Times New Roman"/>
                        <a:sym typeface="Times New Roman"/>
                      </a:endParaRPr>
                    </a:p>
                    <a:p>
                      <a:pPr indent="0" lvl="0" marL="457200" marR="0" rtl="0" algn="l">
                        <a:spcBef>
                          <a:spcPts val="0"/>
                        </a:spcBef>
                        <a:spcAft>
                          <a:spcPts val="0"/>
                        </a:spcAft>
                        <a:buNone/>
                      </a:pPr>
                      <a:r>
                        <a:t/>
                      </a:r>
                      <a:endParaRPr>
                        <a:latin typeface="Times New Roman"/>
                        <a:ea typeface="Times New Roman"/>
                        <a:cs typeface="Times New Roman"/>
                        <a:sym typeface="Times New Roman"/>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US">
                          <a:latin typeface="Times New Roman"/>
                          <a:ea typeface="Times New Roman"/>
                          <a:cs typeface="Times New Roman"/>
                          <a:sym typeface="Times New Roman"/>
                        </a:rPr>
                        <a:t>Yes</a:t>
                      </a:r>
                      <a:endParaRPr i="0">
                        <a:latin typeface="Times New Roman"/>
                        <a:ea typeface="Times New Roman"/>
                        <a:cs typeface="Times New Roman"/>
                        <a:sym typeface="Times New Roman"/>
                      </a:endParaRPr>
                    </a:p>
                  </a:txBody>
                  <a:tcPr marT="45725" marB="45725" marR="91450" marL="91450">
                    <a:solidFill>
                      <a:srgbClr val="F4F9ED"/>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dce7c526b_1_247"/>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Future Work</a:t>
            </a:r>
            <a:endParaRPr/>
          </a:p>
        </p:txBody>
      </p:sp>
      <p:sp>
        <p:nvSpPr>
          <p:cNvPr id="257" name="Google Shape;257;g3adce7c526b_1_247"/>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Integrate </a:t>
            </a:r>
            <a:r>
              <a:rPr b="1" lang="en-US" sz="1800">
                <a:solidFill>
                  <a:schemeClr val="dk1"/>
                </a:solidFill>
                <a:latin typeface="Times New Roman"/>
                <a:ea typeface="Times New Roman"/>
                <a:cs typeface="Times New Roman"/>
                <a:sym typeface="Times New Roman"/>
              </a:rPr>
              <a:t>real-time fact verification</a:t>
            </a:r>
            <a:r>
              <a:rPr lang="en-US" sz="1800">
                <a:solidFill>
                  <a:schemeClr val="dk1"/>
                </a:solidFill>
                <a:latin typeface="Times New Roman"/>
                <a:ea typeface="Times New Roman"/>
                <a:cs typeface="Times New Roman"/>
                <a:sym typeface="Times New Roman"/>
              </a:rPr>
              <a:t> using live knowledge sources and web APIs.</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Add </a:t>
            </a:r>
            <a:r>
              <a:rPr b="1" lang="en-US" sz="1800">
                <a:solidFill>
                  <a:schemeClr val="dk1"/>
                </a:solidFill>
                <a:latin typeface="Times New Roman"/>
                <a:ea typeface="Times New Roman"/>
                <a:cs typeface="Times New Roman"/>
                <a:sym typeface="Times New Roman"/>
              </a:rPr>
              <a:t>white-box uncertainty modeling</a:t>
            </a:r>
            <a:r>
              <a:rPr lang="en-US" sz="1800">
                <a:solidFill>
                  <a:schemeClr val="dk1"/>
                </a:solidFill>
                <a:latin typeface="Times New Roman"/>
                <a:ea typeface="Times New Roman"/>
                <a:cs typeface="Times New Roman"/>
                <a:sym typeface="Times New Roman"/>
              </a:rPr>
              <a:t> using token-level entropy</a:t>
            </a:r>
            <a:r>
              <a:rPr lang="en-US" sz="1800">
                <a:solidFill>
                  <a:schemeClr val="dk1"/>
                </a:solidFill>
                <a:latin typeface="Times New Roman"/>
                <a:ea typeface="Times New Roman"/>
                <a:cs typeface="Times New Roman"/>
                <a:sym typeface="Times New Roman"/>
              </a:rPr>
              <a:t> and </a:t>
            </a:r>
            <a:r>
              <a:rPr lang="en-US" sz="1800">
                <a:solidFill>
                  <a:schemeClr val="dk1"/>
                </a:solidFill>
                <a:latin typeface="Times New Roman"/>
                <a:ea typeface="Times New Roman"/>
                <a:cs typeface="Times New Roman"/>
                <a:sym typeface="Times New Roman"/>
              </a:rPr>
              <a:t>probability-based scoring.</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Extend the system to support </a:t>
            </a:r>
            <a:r>
              <a:rPr b="1" lang="en-US" sz="1800">
                <a:solidFill>
                  <a:schemeClr val="dk1"/>
                </a:solidFill>
                <a:latin typeface="Times New Roman"/>
                <a:ea typeface="Times New Roman"/>
                <a:cs typeface="Times New Roman"/>
                <a:sym typeface="Times New Roman"/>
              </a:rPr>
              <a:t>multilingual hallucination detection</a:t>
            </a:r>
            <a:r>
              <a:rPr lang="en-US" sz="1800">
                <a:solidFill>
                  <a:schemeClr val="dk1"/>
                </a:solidFill>
                <a:latin typeface="Times New Roman"/>
                <a:ea typeface="Times New Roman"/>
                <a:cs typeface="Times New Roman"/>
                <a:sym typeface="Times New Roman"/>
              </a:rPr>
              <a:t> across diverse languages.</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Expand towards </a:t>
            </a:r>
            <a:r>
              <a:rPr b="1" lang="en-US" sz="1800">
                <a:solidFill>
                  <a:schemeClr val="dk1"/>
                </a:solidFill>
                <a:latin typeface="Times New Roman"/>
                <a:ea typeface="Times New Roman"/>
                <a:cs typeface="Times New Roman"/>
                <a:sym typeface="Times New Roman"/>
              </a:rPr>
              <a:t>multimodal hallucination detection</a:t>
            </a:r>
            <a:r>
              <a:rPr lang="en-US" sz="1800">
                <a:solidFill>
                  <a:schemeClr val="dk1"/>
                </a:solidFill>
                <a:latin typeface="Times New Roman"/>
                <a:ea typeface="Times New Roman"/>
                <a:cs typeface="Times New Roman"/>
                <a:sym typeface="Times New Roman"/>
              </a:rPr>
              <a:t> including text, images, and video content.</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Develop a </a:t>
            </a:r>
            <a:r>
              <a:rPr b="1" lang="en-US" sz="1800">
                <a:solidFill>
                  <a:schemeClr val="dk1"/>
                </a:solidFill>
                <a:latin typeface="Times New Roman"/>
                <a:ea typeface="Times New Roman"/>
                <a:cs typeface="Times New Roman"/>
                <a:sym typeface="Times New Roman"/>
              </a:rPr>
              <a:t>web-based interface or browser extension</a:t>
            </a:r>
            <a:r>
              <a:rPr lang="en-US" sz="1800">
                <a:solidFill>
                  <a:schemeClr val="dk1"/>
                </a:solidFill>
                <a:latin typeface="Times New Roman"/>
                <a:ea typeface="Times New Roman"/>
                <a:cs typeface="Times New Roman"/>
                <a:sym typeface="Times New Roman"/>
              </a:rPr>
              <a:t> for real-time hallucination highlighting.</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Implement </a:t>
            </a:r>
            <a:r>
              <a:rPr b="1" lang="en-US" sz="1800">
                <a:solidFill>
                  <a:schemeClr val="dk1"/>
                </a:solidFill>
                <a:latin typeface="Times New Roman"/>
                <a:ea typeface="Times New Roman"/>
                <a:cs typeface="Times New Roman"/>
                <a:sym typeface="Times New Roman"/>
              </a:rPr>
              <a:t>graph-based knowledge integration</a:t>
            </a:r>
            <a:r>
              <a:rPr lang="en-US" sz="1800">
                <a:solidFill>
                  <a:schemeClr val="dk1"/>
                </a:solidFill>
                <a:latin typeface="Times New Roman"/>
                <a:ea typeface="Times New Roman"/>
                <a:cs typeface="Times New Roman"/>
                <a:sym typeface="Times New Roman"/>
              </a:rPr>
              <a:t> using external knowledge graphs such as Wikidata and domain-specific ontologies for deeper factual validation.</a:t>
            </a:r>
            <a:endParaRPr sz="1800">
              <a:solidFill>
                <a:schemeClr val="dk1"/>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Optimize the model for </a:t>
            </a:r>
            <a:r>
              <a:rPr b="1" lang="en-US" sz="1800">
                <a:solidFill>
                  <a:schemeClr val="dk1"/>
                </a:solidFill>
                <a:latin typeface="Times New Roman"/>
                <a:ea typeface="Times New Roman"/>
                <a:cs typeface="Times New Roman"/>
                <a:sym typeface="Times New Roman"/>
              </a:rPr>
              <a:t>real-time and large-scale deployment</a:t>
            </a:r>
            <a:r>
              <a:rPr lang="en-US" sz="1800">
                <a:solidFill>
                  <a:schemeClr val="dk1"/>
                </a:solidFill>
                <a:latin typeface="Times New Roman"/>
                <a:ea typeface="Times New Roman"/>
                <a:cs typeface="Times New Roman"/>
                <a:sym typeface="Times New Roman"/>
              </a:rPr>
              <a:t> in critical domains like healthcare, law, and finance.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Project Plan</a:t>
            </a:r>
            <a:endParaRPr/>
          </a:p>
        </p:txBody>
      </p:sp>
      <p:sp>
        <p:nvSpPr>
          <p:cNvPr id="263" name="Google Shape;263;p21"/>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264" name="Google Shape;264;p21"/>
          <p:cNvPicPr preferRelativeResize="0"/>
          <p:nvPr/>
        </p:nvPicPr>
        <p:blipFill>
          <a:blip r:embed="rId3">
            <a:alphaModFix/>
          </a:blip>
          <a:stretch>
            <a:fillRect/>
          </a:stretch>
        </p:blipFill>
        <p:spPr>
          <a:xfrm>
            <a:off x="223838" y="1368525"/>
            <a:ext cx="8696324" cy="453895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References </a:t>
            </a:r>
            <a:endParaRPr sz="1800"/>
          </a:p>
        </p:txBody>
      </p:sp>
      <p:sp>
        <p:nvSpPr>
          <p:cNvPr id="270" name="Google Shape;270;p27"/>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 Y. LeCun, Y. Bengio, and G. E. Hinton, “Deep learning,” </a:t>
            </a:r>
            <a:r>
              <a:rPr i="1" lang="en-US" sz="1200">
                <a:solidFill>
                  <a:schemeClr val="dk1"/>
                </a:solidFill>
                <a:latin typeface="Times New Roman"/>
                <a:ea typeface="Times New Roman"/>
                <a:cs typeface="Times New Roman"/>
                <a:sym typeface="Times New Roman"/>
              </a:rPr>
              <a:t>Nature</a:t>
            </a:r>
            <a:r>
              <a:rPr lang="en-US" sz="1200">
                <a:solidFill>
                  <a:schemeClr val="dk1"/>
                </a:solidFill>
                <a:latin typeface="Times New Roman"/>
                <a:ea typeface="Times New Roman"/>
                <a:cs typeface="Times New Roman"/>
                <a:sym typeface="Times New Roman"/>
              </a:rPr>
              <a:t>, vol. 521, no. 7553, pp. 436–444, May 2015.</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 D. Silver, J. Schrittwieser, K. Simonyan, et al., “Mastering the game of Go with deep neural networks and tree search,” </a:t>
            </a:r>
            <a:r>
              <a:rPr i="1" lang="en-US" sz="1200">
                <a:solidFill>
                  <a:schemeClr val="dk1"/>
                </a:solidFill>
                <a:latin typeface="Times New Roman"/>
                <a:ea typeface="Times New Roman"/>
                <a:cs typeface="Times New Roman"/>
                <a:sym typeface="Times New Roman"/>
              </a:rPr>
              <a:t>Nature</a:t>
            </a:r>
            <a:r>
              <a:rPr lang="en-US" sz="1200">
                <a:solidFill>
                  <a:schemeClr val="dk1"/>
                </a:solidFill>
                <a:latin typeface="Times New Roman"/>
                <a:ea typeface="Times New Roman"/>
                <a:cs typeface="Times New Roman"/>
                <a:sym typeface="Times New Roman"/>
              </a:rPr>
              <a:t>, vol. 529, no. 7587, pp. 484–489, Jan. 2016.</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[3] A. Vaswani, N. Shazeer, N. Parmar, et al., “Attention is all you need,” in </a:t>
            </a:r>
            <a:r>
              <a:rPr i="1" lang="en-US" sz="1200">
                <a:solidFill>
                  <a:schemeClr val="dk1"/>
                </a:solidFill>
                <a:latin typeface="Times New Roman"/>
                <a:ea typeface="Times New Roman"/>
                <a:cs typeface="Times New Roman"/>
                <a:sym typeface="Times New Roman"/>
              </a:rPr>
              <a:t>Proc. Advances in Neural Information Processing Systems (NeurIPS)</a:t>
            </a:r>
            <a:r>
              <a:rPr lang="en-US" sz="1200">
                <a:solidFill>
                  <a:schemeClr val="dk1"/>
                </a:solidFill>
                <a:latin typeface="Times New Roman"/>
                <a:ea typeface="Times New Roman"/>
                <a:cs typeface="Times New Roman"/>
                <a:sym typeface="Times New Roman"/>
              </a:rPr>
              <a:t>, Long Beach, CA, USA, 2017, pp. 5998–6008.</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[4] S. J. Russell and P. Norvig, “Search in Complex Environments,” in </a:t>
            </a:r>
            <a:r>
              <a:rPr i="1" lang="en-US" sz="1200">
                <a:solidFill>
                  <a:schemeClr val="dk1"/>
                </a:solidFill>
                <a:latin typeface="Times New Roman"/>
                <a:ea typeface="Times New Roman"/>
                <a:cs typeface="Times New Roman"/>
                <a:sym typeface="Times New Roman"/>
              </a:rPr>
              <a:t>Artificial Intelligence: A Modern Approach</a:t>
            </a:r>
            <a:r>
              <a:rPr lang="en-US" sz="1200">
                <a:solidFill>
                  <a:schemeClr val="dk1"/>
                </a:solidFill>
                <a:latin typeface="Times New Roman"/>
                <a:ea typeface="Times New Roman"/>
                <a:cs typeface="Times New Roman"/>
                <a:sym typeface="Times New Roman"/>
              </a:rPr>
              <a:t>, 4th ed. Upper Saddle River, NJ, USA: Pearson, 2020, ch. 4, pp. 127–180.</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[5] C. Fu, Y. Li, S. Yang, et al., “MME: A Comprehensive Evaluation Benchmark for Multimodal Large Language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arXiv:2306.13394, 2023.[Online]. Available:</a:t>
            </a:r>
            <a:r>
              <a:rPr lang="en-US" sz="12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https://arxiv.org/abs/2306.13394</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[6] Y.-S. Chuang, L. Qiu, C.-Y. Hsieh, R. Krishna, Y. Kim, and J. Glass, “Lookback Lens: Detecting and Mitigating Contextual Hallucinations in Large Language Models Using Only Attention Maps,”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arXiv:2407.07071, 2024.[Online]. Available:</a:t>
            </a:r>
            <a:r>
              <a:rPr lang="en-US"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https://arxiv.org/abs/2407.07071</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[7] P. Sahoo, P. Meharia, A. Ghosh, S. Saha, V. Jain, and A. Chadha, “A Comprehensive Survey of Hallucination in Large Language, Image, Video and Audio Foundation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arXiv:2405.09589, 2024.[Online]. Available:</a:t>
            </a:r>
            <a:r>
              <a:rPr lang="en-US"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https://arxiv.org/abs/2405.09589</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[8] Z. Xu, S. Jain, and M. Kankanhalli, “Hallucination is Inevitable: An Innate Limitation of Large Language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arXiv:2401.11817, 2024.[Online]. Available:</a:t>
            </a:r>
            <a:r>
              <a:rPr lang="en-US"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https://arxiv.org/pdf/2401.11817</a:t>
            </a:r>
            <a:endParaRPr sz="17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rPr lang="en-US"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398462" lvl="0" marL="406400" marR="0" rtl="0" algn="just">
              <a:lnSpc>
                <a:spcPct val="150000"/>
              </a:lnSpc>
              <a:spcBef>
                <a:spcPts val="1200"/>
              </a:spcBef>
              <a:spcAft>
                <a:spcPts val="0"/>
              </a:spcAft>
              <a:buClr>
                <a:schemeClr val="dk1"/>
              </a:buClr>
              <a:buSzPts val="1625"/>
              <a:buFont typeface="Arial"/>
              <a:buNone/>
            </a:pPr>
            <a:r>
              <a:t/>
            </a:r>
            <a:endParaRPr>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398463" lvl="0" marL="406400" marR="0" rtl="0" algn="just">
              <a:lnSpc>
                <a:spcPct val="150000"/>
              </a:lnSpc>
              <a:spcBef>
                <a:spcPts val="1200"/>
              </a:spcBef>
              <a:spcAft>
                <a:spcPts val="0"/>
              </a:spcAft>
              <a:buClr>
                <a:schemeClr val="dk1"/>
              </a:buClr>
              <a:buSzPts val="1625"/>
              <a:buFont typeface="Arial"/>
              <a:buNone/>
            </a:pPr>
            <a:r>
              <a:t/>
            </a:r>
            <a:endParaRPr sz="1300">
              <a:solidFill>
                <a:schemeClr val="dk1"/>
              </a:solidFill>
              <a:latin typeface="Helvetica Neue"/>
              <a:ea typeface="Helvetica Neue"/>
              <a:cs typeface="Helvetica Neue"/>
              <a:sym typeface="Helvetica Neue"/>
            </a:endParaRPr>
          </a:p>
          <a:p>
            <a:pPr indent="0" lvl="0" marL="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8cf3ca21e3_0_84"/>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US" sz="2400"/>
              <a:t>References </a:t>
            </a:r>
            <a:r>
              <a:rPr b="0" lang="en-US" sz="2400"/>
              <a:t>(cont…)</a:t>
            </a:r>
            <a:endParaRPr sz="1800"/>
          </a:p>
        </p:txBody>
      </p:sp>
      <p:sp>
        <p:nvSpPr>
          <p:cNvPr id="276" name="Google Shape;276;g38cf3ca21e3_0_84"/>
          <p:cNvSpPr txBox="1"/>
          <p:nvPr/>
        </p:nvSpPr>
        <p:spPr>
          <a:xfrm>
            <a:off x="93593" y="781381"/>
            <a:ext cx="8956800" cy="579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[9] N. Maleki, B. Padmanabhan, and K. Dutta, “AI Hallucinations: A Misnomer Worth Clarifying,”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arXiv:2401.06796, 2024.Available:</a:t>
            </a:r>
            <a:r>
              <a:rPr lang="en-US" sz="12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https://arxiv.org/pdf/2401.06796</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[10] I. Goodfellow, Y. Bengio, and A. Courville, “Optimization for Training Deep Models,” in </a:t>
            </a:r>
            <a:r>
              <a:rPr i="1" lang="en-US" sz="1200">
                <a:solidFill>
                  <a:schemeClr val="dk1"/>
                </a:solidFill>
                <a:latin typeface="Times New Roman"/>
                <a:ea typeface="Times New Roman"/>
                <a:cs typeface="Times New Roman"/>
                <a:sym typeface="Times New Roman"/>
              </a:rPr>
              <a:t>Deep Learning</a:t>
            </a:r>
            <a:r>
              <a:rPr lang="en-US" sz="1200">
                <a:solidFill>
                  <a:schemeClr val="dk1"/>
                </a:solidFill>
                <a:latin typeface="Times New Roman"/>
                <a:ea typeface="Times New Roman"/>
                <a:cs typeface="Times New Roman"/>
                <a:sym typeface="Times New Roman"/>
              </a:rPr>
              <a:t>. Cambridge, MA, USA: MIT Press, 2016, ch. 8, pp. 271–322.</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[11] OpenAI, “GPT-4 Technical Report,”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arXiv:2303.08774, Mar. 2023.[Online]. Available:</a:t>
            </a:r>
            <a:r>
              <a:rPr lang="en-US" sz="12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https://arxiv.org/abs/2303.08774</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[12] DeepMind, “AlphaFold: Revolutionizing Biology with AI,” July 2021.[Online]. Available:</a:t>
            </a:r>
            <a:r>
              <a:rPr lang="en-US" sz="12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https://www.deepmind.com/research/highlighted-research/alphafold</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[13] A. Karpathy, “The Unreasonable Effectiveness of Recurrent Neural Networks,” </a:t>
            </a:r>
            <a:r>
              <a:rPr i="1" lang="en-US" sz="1200">
                <a:solidFill>
                  <a:schemeClr val="dk1"/>
                </a:solidFill>
                <a:latin typeface="Times New Roman"/>
                <a:ea typeface="Times New Roman"/>
                <a:cs typeface="Times New Roman"/>
                <a:sym typeface="Times New Roman"/>
              </a:rPr>
              <a:t>Karpathy’s Blog</a:t>
            </a:r>
            <a:r>
              <a:rPr lang="en-US" sz="1200">
                <a:solidFill>
                  <a:schemeClr val="dk1"/>
                </a:solidFill>
                <a:latin typeface="Times New Roman"/>
                <a:ea typeface="Times New Roman"/>
                <a:cs typeface="Times New Roman"/>
                <a:sym typeface="Times New Roman"/>
              </a:rPr>
              <a:t>, May 21, 2015.[Online]. Available:</a:t>
            </a:r>
            <a:r>
              <a:rPr lang="en-US" sz="1200">
                <a:solidFill>
                  <a:schemeClr val="dk1"/>
                </a:solidFill>
                <a:uFill>
                  <a:noFill/>
                </a:uFill>
                <a:latin typeface="Times New Roman"/>
                <a:ea typeface="Times New Roman"/>
                <a:cs typeface="Times New Roman"/>
                <a:sym typeface="Times New Roman"/>
                <a:hlinkClick r:id="rId9">
                  <a:extLst>
                    <a:ext uri="{A12FA001-AC4F-418D-AE19-62706E023703}">
                      <ahyp:hlinkClr val="tx"/>
                    </a:ext>
                  </a:extLst>
                </a:hlinkClick>
              </a:rPr>
              <a:t> </a:t>
            </a:r>
            <a:r>
              <a:rPr lang="en-US" sz="120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http://karpathy.github.io/2015/05/21/rnn-effectiveness/</a:t>
            </a:r>
            <a:endParaRPr sz="1200">
              <a:solidFill>
                <a:schemeClr val="dk1"/>
              </a:solidFill>
              <a:latin typeface="Times New Roman"/>
              <a:ea typeface="Times New Roman"/>
              <a:cs typeface="Times New Roman"/>
              <a:sym typeface="Times New Roman"/>
            </a:endParaRPr>
          </a:p>
          <a:p>
            <a:pPr indent="0" lvl="0" marL="0" rtl="0" algn="l">
              <a:lnSpc>
                <a:spcPct val="14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[14] H. Zhang, Z. Liu, T. He, et al., “Siren’s Song in the AI Ocean: A Survey on Hallucination in Large Language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arXiv:2309.01219, 2023.</a:t>
            </a:r>
            <a:endParaRPr sz="1200">
              <a:solidFill>
                <a:schemeClr val="dk1"/>
              </a:solidFill>
              <a:latin typeface="Times New Roman"/>
              <a:ea typeface="Times New Roman"/>
              <a:cs typeface="Times New Roman"/>
              <a:sym typeface="Times New Roman"/>
            </a:endParaRPr>
          </a:p>
          <a:p>
            <a:pPr indent="0" lvl="0" marL="0" rtl="0" algn="l">
              <a:lnSpc>
                <a:spcPct val="14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[15] X. Huang, Y. Xie, S. Zhu, and M. Chen, “A Survey on Hallucination in Large Language Models: Principles, Taxonomy, Challenges, and Open Questions,” </a:t>
            </a:r>
            <a:r>
              <a:rPr i="1" lang="en-US" sz="1200">
                <a:solidFill>
                  <a:schemeClr val="dk1"/>
                </a:solidFill>
                <a:latin typeface="Times New Roman"/>
                <a:ea typeface="Times New Roman"/>
                <a:cs typeface="Times New Roman"/>
                <a:sym typeface="Times New Roman"/>
              </a:rPr>
              <a:t>ACM Computing Surveys</a:t>
            </a:r>
            <a:r>
              <a:rPr lang="en-US" sz="1200">
                <a:solidFill>
                  <a:schemeClr val="dk1"/>
                </a:solidFill>
                <a:latin typeface="Times New Roman"/>
                <a:ea typeface="Times New Roman"/>
                <a:cs typeface="Times New Roman"/>
                <a:sym typeface="Times New Roman"/>
              </a:rPr>
              <a:t>, vol. 56, no. 8, pp. 1–40, 2024.</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[16] C. Fan, D. Aumiller, and M. Gertz, “Evaluating Factual Consistency of Texts with Semantic Role Labeling,” in </a:t>
            </a:r>
            <a:r>
              <a:rPr i="1" lang="en-US" sz="1200">
                <a:solidFill>
                  <a:schemeClr val="dk1"/>
                </a:solidFill>
                <a:latin typeface="Times New Roman"/>
                <a:ea typeface="Times New Roman"/>
                <a:cs typeface="Times New Roman"/>
                <a:sym typeface="Times New Roman"/>
              </a:rPr>
              <a:t>Proc. 61st Annual Meeting of the Association for Computational Linguistics (ACL)</a:t>
            </a:r>
            <a:r>
              <a:rPr lang="en-US" sz="1200">
                <a:solidFill>
                  <a:schemeClr val="dk1"/>
                </a:solidFill>
                <a:latin typeface="Times New Roman"/>
                <a:ea typeface="Times New Roman"/>
                <a:cs typeface="Times New Roman"/>
                <a:sym typeface="Times New Roman"/>
              </a:rPr>
              <a:t>, Toronto, Canada, Jul. 2023, pp. 1234–1249.</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[17] M. Manakul, S. Ladhak, and A. Ghosh, “SelfCheckGPT: Zero-Resource Black-Box Hallucination Detection for Generative Large Language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arXiv:2303.08896, 2023.</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398462" lvl="0" marL="406400" marR="0" rtl="0" algn="just">
              <a:lnSpc>
                <a:spcPct val="150000"/>
              </a:lnSpc>
              <a:spcBef>
                <a:spcPts val="1200"/>
              </a:spcBef>
              <a:spcAft>
                <a:spcPts val="0"/>
              </a:spcAft>
              <a:buClr>
                <a:schemeClr val="dk1"/>
              </a:buClr>
              <a:buSzPts val="1625"/>
              <a:buFont typeface="Arial"/>
              <a:buNone/>
            </a:pPr>
            <a:r>
              <a:t/>
            </a:r>
            <a:endParaRPr/>
          </a:p>
          <a:p>
            <a:pPr indent="0" lvl="0" marL="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US" sz="2400"/>
              <a:t>References </a:t>
            </a:r>
            <a:r>
              <a:rPr b="0" lang="en-US" sz="2400"/>
              <a:t>(cont…)</a:t>
            </a:r>
            <a:endParaRPr/>
          </a:p>
        </p:txBody>
      </p:sp>
      <p:sp>
        <p:nvSpPr>
          <p:cNvPr id="282" name="Google Shape;282;p26"/>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[18] A. Lin, J. Hilton, and O. Evans, “TruthfulQA: Measuring How Models Mimic Human Falsehoods,” in </a:t>
            </a:r>
            <a:r>
              <a:rPr i="1" lang="en-US" sz="1200">
                <a:solidFill>
                  <a:schemeClr val="dk1"/>
                </a:solidFill>
                <a:latin typeface="Times New Roman"/>
                <a:ea typeface="Times New Roman"/>
                <a:cs typeface="Times New Roman"/>
                <a:sym typeface="Times New Roman"/>
              </a:rPr>
              <a:t>Proc. ACL Findings</a:t>
            </a:r>
            <a:r>
              <a:rPr lang="en-US" sz="1200">
                <a:solidFill>
                  <a:schemeClr val="dk1"/>
                </a:solidFill>
                <a:latin typeface="Times New Roman"/>
                <a:ea typeface="Times New Roman"/>
                <a:cs typeface="Times New Roman"/>
                <a:sym typeface="Times New Roman"/>
              </a:rPr>
              <a:t>, 2022.</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[19] J. Bang, S. Kim, and J. Kang, “Med-HALT: Benchmarking Hallucinations in Large Language Models for Medicine,”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arXiv:2310.02554, 2023.</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[20] Y. Gao, C. Zhou, Z. Liu, et al., “HaluEval 2.0: Dynamic Hallucination Evaluation for Large Language Models,”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arXiv:2402.06705, 2024.</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[21] A. G. Howard, M. Zhu, B. Chen, et al., “MobileNets: Efficient Convolutional Neural Networks for Mobile Vision Applications,” </a:t>
            </a:r>
            <a:r>
              <a:rPr i="1" lang="en-US" sz="1200">
                <a:solidFill>
                  <a:schemeClr val="dk1"/>
                </a:solidFill>
                <a:latin typeface="Times New Roman"/>
                <a:ea typeface="Times New Roman"/>
                <a:cs typeface="Times New Roman"/>
                <a:sym typeface="Times New Roman"/>
              </a:rPr>
              <a:t>arXiv preprint</a:t>
            </a:r>
            <a:r>
              <a:rPr lang="en-US" sz="1200">
                <a:solidFill>
                  <a:schemeClr val="dk1"/>
                </a:solidFill>
                <a:latin typeface="Times New Roman"/>
                <a:ea typeface="Times New Roman"/>
                <a:cs typeface="Times New Roman"/>
                <a:sym typeface="Times New Roman"/>
              </a:rPr>
              <a:t>, arXiv:1704.04861, 2017.</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[22] I. Goodfellow, Y. Bengio, and A. Courville, </a:t>
            </a:r>
            <a:r>
              <a:rPr i="1" lang="en-US" sz="1200">
                <a:solidFill>
                  <a:schemeClr val="dk1"/>
                </a:solidFill>
                <a:latin typeface="Times New Roman"/>
                <a:ea typeface="Times New Roman"/>
                <a:cs typeface="Times New Roman"/>
                <a:sym typeface="Times New Roman"/>
              </a:rPr>
              <a:t>Deep Learning</a:t>
            </a:r>
            <a:r>
              <a:rPr lang="en-US" sz="1200">
                <a:solidFill>
                  <a:schemeClr val="dk1"/>
                </a:solidFill>
                <a:latin typeface="Times New Roman"/>
                <a:ea typeface="Times New Roman"/>
                <a:cs typeface="Times New Roman"/>
                <a:sym typeface="Times New Roman"/>
              </a:rPr>
              <a:t>. Cambridge, MA, USA: MIT Press, 2016.</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[23] M. Alkaissi and S. I. McFarlane, “Artificial Hallucinations in ChatGPT: Implications in Scientific Writing,” </a:t>
            </a:r>
            <a:r>
              <a:rPr i="1" lang="en-US" sz="1200">
                <a:solidFill>
                  <a:schemeClr val="dk1"/>
                </a:solidFill>
                <a:latin typeface="Times New Roman"/>
                <a:ea typeface="Times New Roman"/>
                <a:cs typeface="Times New Roman"/>
                <a:sym typeface="Times New Roman"/>
              </a:rPr>
              <a:t>Cureus</a:t>
            </a:r>
            <a:r>
              <a:rPr lang="en-US" sz="1200">
                <a:solidFill>
                  <a:schemeClr val="dk1"/>
                </a:solidFill>
                <a:latin typeface="Times New Roman"/>
                <a:ea typeface="Times New Roman"/>
                <a:cs typeface="Times New Roman"/>
                <a:sym typeface="Times New Roman"/>
              </a:rPr>
              <a:t>, vol. 15, no. 2, pp. e35179, Feb. 2023.</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[24] R. Guliyev and F. Özer, “On the ‘Hallucinations’ of Artificial Intelligence and Their Terminologies,” </a:t>
            </a:r>
            <a:r>
              <a:rPr i="1" lang="en-US" sz="1200">
                <a:solidFill>
                  <a:schemeClr val="dk1"/>
                </a:solidFill>
                <a:latin typeface="Times New Roman"/>
                <a:ea typeface="Times New Roman"/>
                <a:cs typeface="Times New Roman"/>
                <a:sym typeface="Times New Roman"/>
              </a:rPr>
              <a:t>Cureus</a:t>
            </a:r>
            <a:r>
              <a:rPr lang="en-US" sz="1200">
                <a:solidFill>
                  <a:schemeClr val="dk1"/>
                </a:solidFill>
                <a:latin typeface="Times New Roman"/>
                <a:ea typeface="Times New Roman"/>
                <a:cs typeface="Times New Roman"/>
                <a:sym typeface="Times New Roman"/>
              </a:rPr>
              <a:t>, vol. 16, no. 7, pp. e62731, Jul. 2024.</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[25] OpenAI, “Why Language Models Hallucinate,” OpenAI Research, 2025.</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nvSpPr>
        <p:spPr>
          <a:xfrm>
            <a:off x="77118" y="804231"/>
            <a:ext cx="8956714" cy="5960125"/>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t/>
            </a:r>
            <a:endParaRPr b="1" sz="20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rPr b="1" lang="en-US" sz="2000">
                <a:solidFill>
                  <a:schemeClr val="dk1"/>
                </a:solidFill>
                <a:latin typeface="Helvetica Neue"/>
                <a:ea typeface="Helvetica Neue"/>
                <a:cs typeface="Helvetica Neue"/>
                <a:sym typeface="Helvetica Neue"/>
              </a:rPr>
              <a:t>Thanks</a:t>
            </a:r>
            <a:r>
              <a:rPr lang="en-US" sz="1400">
                <a:solidFill>
                  <a:schemeClr val="dk1"/>
                </a:solidFill>
                <a:latin typeface="Helvetica Neue"/>
                <a:ea typeface="Helvetica Neue"/>
                <a:cs typeface="Helvetica Neue"/>
                <a:sym typeface="Helvetica Neue"/>
              </a:rPr>
              <a:t>.</a:t>
            </a:r>
            <a:endParaRPr/>
          </a:p>
        </p:txBody>
      </p:sp>
      <p:pic>
        <p:nvPicPr>
          <p:cNvPr descr="🙏" id="288" name="Google Shape;288;p28"/>
          <p:cNvPicPr preferRelativeResize="0"/>
          <p:nvPr/>
        </p:nvPicPr>
        <p:blipFill rotWithShape="1">
          <a:blip r:embed="rId3">
            <a:alphaModFix/>
          </a:blip>
          <a:srcRect b="0" l="0" r="0" t="0"/>
          <a:stretch/>
        </p:blipFill>
        <p:spPr>
          <a:xfrm>
            <a:off x="4189164" y="2663328"/>
            <a:ext cx="765672" cy="76567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2008-07-20T15:16:37Z</dcterms:created>
  <dc:creator>Marilyn Turnamian</dc:creator>
</cp:coreProperties>
</file>